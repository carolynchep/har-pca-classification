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1"/>
  </p:notesMasterIdLst>
  <p:sldIdLst>
    <p:sldId id="256" r:id="rId5"/>
    <p:sldId id="283" r:id="rId6"/>
    <p:sldId id="282" r:id="rId7"/>
    <p:sldId id="257" r:id="rId8"/>
    <p:sldId id="265" r:id="rId9"/>
    <p:sldId id="266" r:id="rId10"/>
    <p:sldId id="275" r:id="rId11"/>
    <p:sldId id="267" r:id="rId12"/>
    <p:sldId id="274" r:id="rId13"/>
    <p:sldId id="285" r:id="rId14"/>
    <p:sldId id="269" r:id="rId15"/>
    <p:sldId id="278" r:id="rId16"/>
    <p:sldId id="287" r:id="rId17"/>
    <p:sldId id="261" r:id="rId18"/>
    <p:sldId id="263" r:id="rId19"/>
    <p:sldId id="262" r:id="rId20"/>
    <p:sldId id="264" r:id="rId21"/>
    <p:sldId id="279" r:id="rId22"/>
    <p:sldId id="280" r:id="rId23"/>
    <p:sldId id="281" r:id="rId24"/>
    <p:sldId id="284" r:id="rId25"/>
    <p:sldId id="286" r:id="rId26"/>
    <p:sldId id="270" r:id="rId27"/>
    <p:sldId id="271" r:id="rId28"/>
    <p:sldId id="272" r:id="rId29"/>
    <p:sldId id="273"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3BA9F-9412-49C6-BDD8-BEC392A7F452}" v="53" dt="2026-05-11T15:42:40.336"/>
    <p1510:client id="{7D4DC7B3-16BD-5E2D-F4D6-0822E51D3FCE}" v="1426" dt="2026-05-11T03:18:18.956"/>
    <p1510:client id="{9F1CA8EC-91C1-4BE8-9F81-6BBC771A79B8}" v="742" dt="2026-05-11T03:07:17.524"/>
    <p1510:client id="{B8C754F1-3232-D49C-3AF8-9279431EBD17}" v="119" dt="2026-05-11T16:12:34.946"/>
    <p1510:client id="{E7BF646E-CA0D-4F47-87DF-60948D1D9668}" v="18" dt="2026-05-11T16:59:57.383"/>
    <p1510:client id="{FC94313D-81A5-1CEE-99EF-13182DDCADD5}" v="1099" dt="2026-05-11T00:52:14.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0C2BBF-87F9-4F30-A318-92401BE703CA}" type="datetimeFigureOut">
              <a:rPr lang="en-US" smtClean="0"/>
              <a:t>5/10/2026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836C46-65F0-4721-AA21-5F8001F64A49}" type="slidenum">
              <a:rPr lang="en-US" smtClean="0"/>
              <a:t>‹#›</a:t>
            </a:fld>
            <a:endParaRPr lang="en-US"/>
          </a:p>
        </p:txBody>
      </p:sp>
    </p:spTree>
    <p:extLst>
      <p:ext uri="{BB962C8B-B14F-4D97-AF65-F5344CB8AC3E}">
        <p14:creationId xmlns:p14="http://schemas.microsoft.com/office/powerpoint/2010/main" val="2182166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2836C46-65F0-4721-AA21-5F8001F64A49}" type="slidenum">
              <a:rPr lang="en-US" smtClean="0"/>
              <a:t>25</a:t>
            </a:fld>
            <a:endParaRPr lang="en-US"/>
          </a:p>
        </p:txBody>
      </p:sp>
    </p:spTree>
    <p:extLst>
      <p:ext uri="{BB962C8B-B14F-4D97-AF65-F5344CB8AC3E}">
        <p14:creationId xmlns:p14="http://schemas.microsoft.com/office/powerpoint/2010/main" val="7224343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BD13B-85DB-9B88-550B-993FD1899B6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7A17C7-0E2D-14DA-00BA-8F42ADA009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1AC2A2-0BEC-AACB-99E3-CCF6362B339F}"/>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51BECCAC-0BB4-B374-37AF-621D4B268A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4E4281-7E19-3654-60A2-4C24E424C414}"/>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3355616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7C78A-F3D4-30AD-6793-11EE8840FD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45F8D2-4D52-67E7-EFC6-12C17D3C81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76870D-BFFE-7541-3C84-4D2D8159355A}"/>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0106C5C2-1F02-C531-8D03-65275FE36C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029CE0-F9EF-4117-99CC-7A24DCB4C38C}"/>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2993994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A24B6-9016-90EF-84AC-E0096F9BE6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F1D006-5878-E9CF-CD55-09775FCB59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821759-0170-39C9-1F01-8E3A46DABE8B}"/>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80834DCE-2FA5-9EC4-ABF9-2F9BD61033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B846C5-F6E9-AFFD-B9DB-2BDA1D98F2F2}"/>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3766233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E9CAA-E871-99C6-FD20-39E3B55E6D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DC7F59A-5459-2BD2-8C20-358E662406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F82CBF-A651-9039-E6A1-7AC1246093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A980D0-405C-522D-E0F5-007276D958C7}"/>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6" name="Footer Placeholder 5">
            <a:extLst>
              <a:ext uri="{FF2B5EF4-FFF2-40B4-BE49-F238E27FC236}">
                <a16:creationId xmlns:a16="http://schemas.microsoft.com/office/drawing/2014/main" id="{18254978-10A4-49DA-0848-A2C51A7D0E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982767-C622-08A7-96BB-691ACEEEA37F}"/>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1887204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10F25-C186-E1A4-6240-C128750524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9AD135-CFB4-7D8B-A7CD-B0E13A4874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221BD5-238C-D229-5E4C-62F2A3E6D6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B5DD02-F6B4-2DA6-1B50-B07E8484B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A89533-93E6-29DA-6073-CB5049291B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9364ED7-7470-038F-A039-A32D8F5D87E9}"/>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8" name="Footer Placeholder 7">
            <a:extLst>
              <a:ext uri="{FF2B5EF4-FFF2-40B4-BE49-F238E27FC236}">
                <a16:creationId xmlns:a16="http://schemas.microsoft.com/office/drawing/2014/main" id="{13233C19-F9F8-3499-4636-141FE6C6C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CFC207-F875-F90B-6FB3-108777E26865}"/>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2477570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72236-BB45-1A09-F650-6B7D83B1F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EFFF14-A7FF-6041-DB8B-F38DD2D7FA07}"/>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4" name="Footer Placeholder 3">
            <a:extLst>
              <a:ext uri="{FF2B5EF4-FFF2-40B4-BE49-F238E27FC236}">
                <a16:creationId xmlns:a16="http://schemas.microsoft.com/office/drawing/2014/main" id="{D01545C5-FCD0-0E22-4ED7-7EA21156362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3276EF-09AD-EC6B-56C3-F22E0E1F1492}"/>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2549906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6D4DAF-17B9-E82A-404D-4D3D2E5C29D5}"/>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3" name="Footer Placeholder 2">
            <a:extLst>
              <a:ext uri="{FF2B5EF4-FFF2-40B4-BE49-F238E27FC236}">
                <a16:creationId xmlns:a16="http://schemas.microsoft.com/office/drawing/2014/main" id="{CED250C2-8CA8-34F4-3F83-F132B81E87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A739F0-78ED-EACE-5CCC-94D566DC7BAD}"/>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346950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83127-7018-225B-E193-32D8AFF288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CB6C457-549B-4D0F-5E65-B8475EA1AB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26C6D4-0B32-320E-6E14-9FBB5B41F8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154ECF-1AC3-E911-8840-466AF775178C}"/>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6" name="Footer Placeholder 5">
            <a:extLst>
              <a:ext uri="{FF2B5EF4-FFF2-40B4-BE49-F238E27FC236}">
                <a16:creationId xmlns:a16="http://schemas.microsoft.com/office/drawing/2014/main" id="{2C42801F-BD83-ED14-E55E-213E4B3FF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FB82AC-C159-42FA-FE18-B0ECFD333334}"/>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1304003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CC52-6252-9D94-0309-9B89D10F53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D5056B-9F80-106F-8824-41916D66FB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F467BCB-93E3-A0AA-7102-2B7BD2D274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D6CA1-0965-AA93-A56D-77F8FFBBE42D}"/>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6" name="Footer Placeholder 5">
            <a:extLst>
              <a:ext uri="{FF2B5EF4-FFF2-40B4-BE49-F238E27FC236}">
                <a16:creationId xmlns:a16="http://schemas.microsoft.com/office/drawing/2014/main" id="{3F3FE038-9197-204E-465B-D04DA3ED7B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04711E-F3D4-D4E7-21A6-B2C8E5C7A572}"/>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230431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8490-0EF0-8D90-B136-15EB891AC1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F6EE8A-0B51-CAE3-BA71-AE6B728FC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F63498-14E7-2C84-EEC3-568F33C11021}"/>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6CBA44C2-E212-8412-15F4-E4358516D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CEA67A-A483-E8BA-F700-9CC0FB48C0F3}"/>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2650885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C273E8-6FDA-3CF3-21E8-92BAFEF4E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7F7E55-990C-A1FD-2493-AB1E4F92C3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DB3488-9AE3-F06D-DA61-1AB760C76FED}"/>
              </a:ext>
            </a:extLst>
          </p:cNvPr>
          <p:cNvSpPr>
            <a:spLocks noGrp="1"/>
          </p:cNvSpPr>
          <p:nvPr>
            <p:ph type="dt" sz="half" idx="10"/>
          </p:nvPr>
        </p:nvSpPr>
        <p:spPr/>
        <p:txBody>
          <a:body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6B76A23A-2939-E89A-B5C1-657B715DA5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70FD7-6110-09D9-5782-5163085042AC}"/>
              </a:ext>
            </a:extLst>
          </p:cNvPr>
          <p:cNvSpPr>
            <a:spLocks noGrp="1"/>
          </p:cNvSpPr>
          <p:nvPr>
            <p:ph type="sldNum" sz="quarter" idx="12"/>
          </p:nvPr>
        </p:nvSpPr>
        <p:spPr/>
        <p:txBody>
          <a:bodyPr/>
          <a:lstStyle/>
          <a:p>
            <a:fld id="{716FB2C2-A612-4F8F-9717-1F08850F2AA3}" type="slidenum">
              <a:rPr lang="en-US" smtClean="0"/>
              <a:t>‹#›</a:t>
            </a:fld>
            <a:endParaRPr lang="en-US"/>
          </a:p>
        </p:txBody>
      </p:sp>
    </p:spTree>
    <p:extLst>
      <p:ext uri="{BB962C8B-B14F-4D97-AF65-F5344CB8AC3E}">
        <p14:creationId xmlns:p14="http://schemas.microsoft.com/office/powerpoint/2010/main" val="366255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1A915-67FF-72CB-CC54-C0526DCEA3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AB18812-D3A3-2B76-86DB-A72D443CC7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8129F-A9A9-A1AA-2E55-91C51A3DBC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51BD6A5-7E17-4953-9632-8A039107222B}" type="datetimeFigureOut">
              <a:rPr lang="en-US" smtClean="0"/>
              <a:t>5/10/2026</a:t>
            </a:fld>
            <a:endParaRPr lang="en-US"/>
          </a:p>
        </p:txBody>
      </p:sp>
      <p:sp>
        <p:nvSpPr>
          <p:cNvPr id="5" name="Footer Placeholder 4">
            <a:extLst>
              <a:ext uri="{FF2B5EF4-FFF2-40B4-BE49-F238E27FC236}">
                <a16:creationId xmlns:a16="http://schemas.microsoft.com/office/drawing/2014/main" id="{CA763154-BA14-A9D1-1C87-2751527811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36D8F1E-7C17-AE58-73B9-9E6F052B6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16FB2C2-A612-4F8F-9717-1F08850F2AA3}" type="slidenum">
              <a:rPr lang="en-US" smtClean="0"/>
              <a:t>‹#›</a:t>
            </a:fld>
            <a:endParaRPr lang="en-US"/>
          </a:p>
        </p:txBody>
      </p:sp>
    </p:spTree>
    <p:extLst>
      <p:ext uri="{BB962C8B-B14F-4D97-AF65-F5344CB8AC3E}">
        <p14:creationId xmlns:p14="http://schemas.microsoft.com/office/powerpoint/2010/main" val="714026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emf"/></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903DF-0FCA-FA59-5149-CF69A2C001B9}"/>
              </a:ext>
            </a:extLst>
          </p:cNvPr>
          <p:cNvSpPr>
            <a:spLocks noGrp="1"/>
          </p:cNvSpPr>
          <p:nvPr>
            <p:ph type="ctrTitle"/>
          </p:nvPr>
        </p:nvSpPr>
        <p:spPr/>
        <p:txBody>
          <a:bodyPr>
            <a:normAutofit fontScale="90000"/>
          </a:bodyPr>
          <a:lstStyle/>
          <a:p>
            <a:r>
              <a:rPr lang="en-US" dirty="0">
                <a:solidFill>
                  <a:srgbClr val="C00000"/>
                </a:solidFill>
              </a:rPr>
              <a:t>High-Dimensional Classification</a:t>
            </a:r>
            <a:br>
              <a:rPr lang="en-US" dirty="0">
                <a:solidFill>
                  <a:srgbClr val="C00000"/>
                </a:solidFill>
              </a:rPr>
            </a:br>
            <a:r>
              <a:rPr lang="en-US" dirty="0">
                <a:solidFill>
                  <a:srgbClr val="C00000"/>
                </a:solidFill>
              </a:rPr>
              <a:t>with PCA</a:t>
            </a:r>
          </a:p>
        </p:txBody>
      </p:sp>
      <p:sp>
        <p:nvSpPr>
          <p:cNvPr id="3" name="Subtitle 2">
            <a:extLst>
              <a:ext uri="{FF2B5EF4-FFF2-40B4-BE49-F238E27FC236}">
                <a16:creationId xmlns:a16="http://schemas.microsoft.com/office/drawing/2014/main" id="{CE3E4A2F-20A6-57A9-7B1B-938581E43CFB}"/>
              </a:ext>
            </a:extLst>
          </p:cNvPr>
          <p:cNvSpPr>
            <a:spLocks noGrp="1"/>
          </p:cNvSpPr>
          <p:nvPr>
            <p:ph type="subTitle" idx="1"/>
          </p:nvPr>
        </p:nvSpPr>
        <p:spPr/>
        <p:txBody>
          <a:bodyPr/>
          <a:lstStyle/>
          <a:p>
            <a:r>
              <a:rPr lang="en-US" dirty="0"/>
              <a:t>STAT 6348 Final Project </a:t>
            </a:r>
          </a:p>
          <a:p>
            <a:r>
              <a:rPr lang="en-US" dirty="0"/>
              <a:t>Carolyne Chepkemboi </a:t>
            </a:r>
            <a:br>
              <a:rPr lang="en-US" dirty="0"/>
            </a:br>
            <a:r>
              <a:rPr lang="en-US" dirty="0"/>
              <a:t>Jadon Guthrie </a:t>
            </a:r>
            <a:br>
              <a:rPr lang="en-US" dirty="0"/>
            </a:br>
            <a:r>
              <a:rPr lang="en-US" dirty="0"/>
              <a:t>Willow Teaney</a:t>
            </a:r>
          </a:p>
        </p:txBody>
      </p:sp>
    </p:spTree>
    <p:extLst>
      <p:ext uri="{BB962C8B-B14F-4D97-AF65-F5344CB8AC3E}">
        <p14:creationId xmlns:p14="http://schemas.microsoft.com/office/powerpoint/2010/main" val="3350463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0D821-4271-16D6-19E7-B249FA672E19}"/>
              </a:ext>
            </a:extLst>
          </p:cNvPr>
          <p:cNvSpPr>
            <a:spLocks noGrp="1"/>
          </p:cNvSpPr>
          <p:nvPr>
            <p:ph type="title"/>
          </p:nvPr>
        </p:nvSpPr>
        <p:spPr/>
        <p:txBody>
          <a:bodyPr/>
          <a:lstStyle/>
          <a:p>
            <a:r>
              <a:rPr lang="en-US">
                <a:solidFill>
                  <a:srgbClr val="C00000"/>
                </a:solidFill>
              </a:rPr>
              <a:t>Presentation Structure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18D3CE-46D7-4E17-B98B-FA1503A14B46}"/>
                  </a:ext>
                </a:extLst>
              </p:cNvPr>
              <p:cNvSpPr>
                <a:spLocks noGrp="1"/>
              </p:cNvSpPr>
              <p:nvPr>
                <p:ph idx="1"/>
              </p:nvPr>
            </p:nvSpPr>
            <p:spPr/>
            <p:txBody>
              <a:bodyPr/>
              <a:lstStyle/>
              <a:p>
                <a:r>
                  <a:rPr lang="en-US" dirty="0"/>
                  <a:t>Introducing the UCI-HAR dataset</a:t>
                </a:r>
              </a:p>
              <a:p>
                <a:r>
                  <a:rPr lang="en-US" dirty="0"/>
                  <a:t>Exploratory data analysis</a:t>
                </a:r>
              </a:p>
              <a:p>
                <a:r>
                  <a:rPr lang="en-US" dirty="0"/>
                  <a:t>Linear Discriminant Analysis baseline model</a:t>
                </a:r>
              </a:p>
              <a:p>
                <a:r>
                  <a:rPr lang="en-US" dirty="0"/>
                  <a:t>Performing Principal Component Analysis</a:t>
                </a:r>
              </a:p>
              <a:p>
                <a:r>
                  <a:rPr lang="en-US" dirty="0"/>
                  <a:t>LDA using PCA</a:t>
                </a:r>
              </a:p>
              <a:p>
                <a14:m>
                  <m:oMath xmlns:m="http://schemas.openxmlformats.org/officeDocument/2006/math">
                    <m:r>
                      <a:rPr lang="en-US" b="0" i="1" dirty="0" smtClean="0">
                        <a:latin typeface="Cambria Math" panose="02040503050406030204" pitchFamily="18" charset="0"/>
                      </a:rPr>
                      <m:t>𝑘</m:t>
                    </m:r>
                  </m:oMath>
                </a14:m>
                <a:r>
                  <a:rPr lang="en-US" dirty="0"/>
                  <a:t>-Nearest Neighbors using PCA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718D3CE-46D7-4E17-B98B-FA1503A14B46}"/>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616291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7637E-F3AD-0C84-504E-2AC55A5F8479}"/>
              </a:ext>
            </a:extLst>
          </p:cNvPr>
          <p:cNvSpPr>
            <a:spLocks noGrp="1"/>
          </p:cNvSpPr>
          <p:nvPr>
            <p:ph type="title"/>
          </p:nvPr>
        </p:nvSpPr>
        <p:spPr/>
        <p:txBody>
          <a:bodyPr/>
          <a:lstStyle/>
          <a:p>
            <a:r>
              <a:rPr lang="en-US">
                <a:solidFill>
                  <a:srgbClr val="C00000"/>
                </a:solidFill>
              </a:rPr>
              <a:t>Dataset</a:t>
            </a:r>
          </a:p>
        </p:txBody>
      </p:sp>
      <p:sp>
        <p:nvSpPr>
          <p:cNvPr id="3" name="Content Placeholder 2">
            <a:extLst>
              <a:ext uri="{FF2B5EF4-FFF2-40B4-BE49-F238E27FC236}">
                <a16:creationId xmlns:a16="http://schemas.microsoft.com/office/drawing/2014/main" id="{26C01F67-C48E-F98D-564D-5CDD51EDF13A}"/>
              </a:ext>
            </a:extLst>
          </p:cNvPr>
          <p:cNvSpPr>
            <a:spLocks noGrp="1"/>
          </p:cNvSpPr>
          <p:nvPr>
            <p:ph idx="1"/>
          </p:nvPr>
        </p:nvSpPr>
        <p:spPr/>
        <p:txBody>
          <a:bodyPr vert="horz" lIns="91440" tIns="45720" rIns="91440" bIns="45720" rtlCol="0" anchor="t">
            <a:normAutofit/>
          </a:bodyPr>
          <a:lstStyle/>
          <a:p>
            <a:r>
              <a:rPr lang="en-US"/>
              <a:t>Samsung Galaxy S II accelerometer and gyroscope signals</a:t>
            </a:r>
          </a:p>
          <a:p>
            <a:r>
              <a:rPr lang="en-US"/>
              <a:t>Strapped to the waist of participants, who performed 6 different activities</a:t>
            </a:r>
          </a:p>
          <a:p>
            <a:pPr lvl="1"/>
            <a:r>
              <a:rPr lang="en-US"/>
              <a:t>Walking forwards, walking upstairs, walking downstairs</a:t>
            </a:r>
          </a:p>
          <a:p>
            <a:pPr lvl="1"/>
            <a:r>
              <a:rPr lang="en-US"/>
              <a:t>Laying down, sitting down, standing up</a:t>
            </a:r>
          </a:p>
          <a:p>
            <a:r>
              <a:rPr lang="en-US"/>
              <a:t>561 features</a:t>
            </a:r>
          </a:p>
          <a:p>
            <a:r>
              <a:rPr lang="en-US"/>
              <a:t>7352 training observations, 2947 test observations (70-30 split)</a:t>
            </a:r>
          </a:p>
          <a:p>
            <a:r>
              <a:rPr lang="en-US"/>
              <a:t>Goal is to determine the activity performed using only statistics derived from the sensor signals</a:t>
            </a:r>
          </a:p>
        </p:txBody>
      </p:sp>
    </p:spTree>
    <p:extLst>
      <p:ext uri="{BB962C8B-B14F-4D97-AF65-F5344CB8AC3E}">
        <p14:creationId xmlns:p14="http://schemas.microsoft.com/office/powerpoint/2010/main" val="1114955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28D50-3201-8218-6044-EB9E38BBA057}"/>
              </a:ext>
            </a:extLst>
          </p:cNvPr>
          <p:cNvSpPr>
            <a:spLocks noGrp="1"/>
          </p:cNvSpPr>
          <p:nvPr>
            <p:ph type="title"/>
          </p:nvPr>
        </p:nvSpPr>
        <p:spPr/>
        <p:txBody>
          <a:bodyPr/>
          <a:lstStyle/>
          <a:p>
            <a:r>
              <a:rPr lang="en-US">
                <a:solidFill>
                  <a:srgbClr val="C00000"/>
                </a:solidFill>
              </a:rPr>
              <a:t>Anatomy of a Feature</a:t>
            </a:r>
          </a:p>
        </p:txBody>
      </p:sp>
      <p:sp>
        <p:nvSpPr>
          <p:cNvPr id="3" name="Content Placeholder 2">
            <a:extLst>
              <a:ext uri="{FF2B5EF4-FFF2-40B4-BE49-F238E27FC236}">
                <a16:creationId xmlns:a16="http://schemas.microsoft.com/office/drawing/2014/main" id="{C66DD62E-9E59-A6E7-D9C1-A1C4BCFCEEFC}"/>
              </a:ext>
            </a:extLst>
          </p:cNvPr>
          <p:cNvSpPr>
            <a:spLocks noGrp="1"/>
          </p:cNvSpPr>
          <p:nvPr>
            <p:ph idx="1"/>
          </p:nvPr>
        </p:nvSpPr>
        <p:spPr>
          <a:xfrm>
            <a:off x="887802" y="2732809"/>
            <a:ext cx="10416396" cy="1141862"/>
          </a:xfrm>
        </p:spPr>
        <p:txBody>
          <a:bodyPr>
            <a:normAutofit/>
          </a:bodyPr>
          <a:lstStyle/>
          <a:p>
            <a:pPr marL="0" indent="0">
              <a:buNone/>
            </a:pPr>
            <a:r>
              <a:rPr lang="en-US" sz="6000">
                <a:latin typeface="Consolas" panose="020B0609020204030204" pitchFamily="49" charset="0"/>
                <a:cs typeface="Courier New" panose="02070309020205020404" pitchFamily="49" charset="0"/>
              </a:rPr>
              <a:t>tBodyAccJerk-entropy()-Y</a:t>
            </a:r>
          </a:p>
        </p:txBody>
      </p:sp>
      <p:sp>
        <p:nvSpPr>
          <p:cNvPr id="4" name="Left Brace 3">
            <a:extLst>
              <a:ext uri="{FF2B5EF4-FFF2-40B4-BE49-F238E27FC236}">
                <a16:creationId xmlns:a16="http://schemas.microsoft.com/office/drawing/2014/main" id="{C00478FF-43DB-1EA8-C753-F288E2783831}"/>
              </a:ext>
            </a:extLst>
          </p:cNvPr>
          <p:cNvSpPr/>
          <p:nvPr/>
        </p:nvSpPr>
        <p:spPr>
          <a:xfrm rot="5400000">
            <a:off x="1060617" y="2515351"/>
            <a:ext cx="204310" cy="434917"/>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5" name="Subtitle 2">
            <a:extLst>
              <a:ext uri="{FF2B5EF4-FFF2-40B4-BE49-F238E27FC236}">
                <a16:creationId xmlns:a16="http://schemas.microsoft.com/office/drawing/2014/main" id="{94F639A2-5ED3-DBD2-FDF4-1E676F814C3C}"/>
              </a:ext>
            </a:extLst>
          </p:cNvPr>
          <p:cNvSpPr txBox="1">
            <a:spLocks/>
          </p:cNvSpPr>
          <p:nvPr/>
        </p:nvSpPr>
        <p:spPr>
          <a:xfrm>
            <a:off x="248764" y="1822961"/>
            <a:ext cx="1828015" cy="877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Time Domain</a:t>
            </a:r>
          </a:p>
        </p:txBody>
      </p:sp>
      <p:sp>
        <p:nvSpPr>
          <p:cNvPr id="7" name="Left Brace 6">
            <a:extLst>
              <a:ext uri="{FF2B5EF4-FFF2-40B4-BE49-F238E27FC236}">
                <a16:creationId xmlns:a16="http://schemas.microsoft.com/office/drawing/2014/main" id="{D15B5FD4-90D2-8233-A474-E45FFC3F3561}"/>
              </a:ext>
            </a:extLst>
          </p:cNvPr>
          <p:cNvSpPr/>
          <p:nvPr/>
        </p:nvSpPr>
        <p:spPr>
          <a:xfrm rot="16200000">
            <a:off x="2152729" y="2947100"/>
            <a:ext cx="204310" cy="1547856"/>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FCB2D2B0-ABB3-FA3A-948E-528797A33629}"/>
              </a:ext>
            </a:extLst>
          </p:cNvPr>
          <p:cNvSpPr/>
          <p:nvPr/>
        </p:nvSpPr>
        <p:spPr>
          <a:xfrm rot="5400000">
            <a:off x="3622576" y="2120807"/>
            <a:ext cx="204310" cy="122400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4DF2D27C-C4EB-C6CF-81D3-6A48487A3A38}"/>
              </a:ext>
            </a:extLst>
          </p:cNvPr>
          <p:cNvSpPr/>
          <p:nvPr/>
        </p:nvSpPr>
        <p:spPr>
          <a:xfrm rot="16200000">
            <a:off x="5136575" y="2892334"/>
            <a:ext cx="204310" cy="1657389"/>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AF7AFBA7-1C12-6DB6-CC34-4AF0E43A3A94}"/>
              </a:ext>
            </a:extLst>
          </p:cNvPr>
          <p:cNvSpPr/>
          <p:nvPr/>
        </p:nvSpPr>
        <p:spPr>
          <a:xfrm rot="5400000">
            <a:off x="8192908" y="893273"/>
            <a:ext cx="204310" cy="3679070"/>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93E3AEC8-1C71-9AB6-4EB8-CE735FBFEE89}"/>
              </a:ext>
            </a:extLst>
          </p:cNvPr>
          <p:cNvSpPr/>
          <p:nvPr/>
        </p:nvSpPr>
        <p:spPr>
          <a:xfrm rot="16200000">
            <a:off x="10739662" y="3447165"/>
            <a:ext cx="204310" cy="547725"/>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2" name="Subtitle 2">
            <a:extLst>
              <a:ext uri="{FF2B5EF4-FFF2-40B4-BE49-F238E27FC236}">
                <a16:creationId xmlns:a16="http://schemas.microsoft.com/office/drawing/2014/main" id="{315C44B1-BC65-4F73-306B-EBC201327A8A}"/>
              </a:ext>
            </a:extLst>
          </p:cNvPr>
          <p:cNvSpPr txBox="1">
            <a:spLocks/>
          </p:cNvSpPr>
          <p:nvPr/>
        </p:nvSpPr>
        <p:spPr>
          <a:xfrm>
            <a:off x="2415989" y="2194713"/>
            <a:ext cx="2617483" cy="5405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Accelerometer</a:t>
            </a:r>
          </a:p>
        </p:txBody>
      </p:sp>
      <p:sp>
        <p:nvSpPr>
          <p:cNvPr id="13" name="Subtitle 2">
            <a:extLst>
              <a:ext uri="{FF2B5EF4-FFF2-40B4-BE49-F238E27FC236}">
                <a16:creationId xmlns:a16="http://schemas.microsoft.com/office/drawing/2014/main" id="{4F9324CE-19DA-E84C-472A-D1CC24A3C33A}"/>
              </a:ext>
            </a:extLst>
          </p:cNvPr>
          <p:cNvSpPr txBox="1">
            <a:spLocks/>
          </p:cNvSpPr>
          <p:nvPr/>
        </p:nvSpPr>
        <p:spPr>
          <a:xfrm>
            <a:off x="6986321" y="2191680"/>
            <a:ext cx="2617483" cy="5405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Signal Entropy</a:t>
            </a:r>
          </a:p>
        </p:txBody>
      </p:sp>
      <p:sp>
        <p:nvSpPr>
          <p:cNvPr id="14" name="Subtitle 2">
            <a:extLst>
              <a:ext uri="{FF2B5EF4-FFF2-40B4-BE49-F238E27FC236}">
                <a16:creationId xmlns:a16="http://schemas.microsoft.com/office/drawing/2014/main" id="{EBA1E2F7-EBC0-B89E-6905-EA42E346A586}"/>
              </a:ext>
            </a:extLst>
          </p:cNvPr>
          <p:cNvSpPr txBox="1">
            <a:spLocks/>
          </p:cNvSpPr>
          <p:nvPr/>
        </p:nvSpPr>
        <p:spPr>
          <a:xfrm>
            <a:off x="10062564" y="3874671"/>
            <a:ext cx="1558506" cy="49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Y-axis</a:t>
            </a:r>
          </a:p>
        </p:txBody>
      </p:sp>
      <p:sp>
        <p:nvSpPr>
          <p:cNvPr id="15" name="Subtitle 2">
            <a:extLst>
              <a:ext uri="{FF2B5EF4-FFF2-40B4-BE49-F238E27FC236}">
                <a16:creationId xmlns:a16="http://schemas.microsoft.com/office/drawing/2014/main" id="{65041DB7-97C4-DBC0-5E9D-5ECF08D064BA}"/>
              </a:ext>
            </a:extLst>
          </p:cNvPr>
          <p:cNvSpPr txBox="1">
            <a:spLocks/>
          </p:cNvSpPr>
          <p:nvPr/>
        </p:nvSpPr>
        <p:spPr>
          <a:xfrm>
            <a:off x="4215983" y="3874671"/>
            <a:ext cx="2045494" cy="8779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Jerk Signal</a:t>
            </a:r>
          </a:p>
        </p:txBody>
      </p:sp>
      <p:sp>
        <p:nvSpPr>
          <p:cNvPr id="16" name="Subtitle 2">
            <a:extLst>
              <a:ext uri="{FF2B5EF4-FFF2-40B4-BE49-F238E27FC236}">
                <a16:creationId xmlns:a16="http://schemas.microsoft.com/office/drawing/2014/main" id="{594C20EF-1C7B-2D01-82B7-40AC9D8C5F14}"/>
              </a:ext>
            </a:extLst>
          </p:cNvPr>
          <p:cNvSpPr txBox="1">
            <a:spLocks/>
          </p:cNvSpPr>
          <p:nvPr/>
        </p:nvSpPr>
        <p:spPr>
          <a:xfrm>
            <a:off x="1162772" y="3906572"/>
            <a:ext cx="2184224" cy="8336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Body Component</a:t>
            </a:r>
          </a:p>
        </p:txBody>
      </p:sp>
      <p:sp>
        <p:nvSpPr>
          <p:cNvPr id="17" name="Subtitle 2">
            <a:extLst>
              <a:ext uri="{FF2B5EF4-FFF2-40B4-BE49-F238E27FC236}">
                <a16:creationId xmlns:a16="http://schemas.microsoft.com/office/drawing/2014/main" id="{010FEC79-840B-4182-132F-A620AB204AC1}"/>
              </a:ext>
            </a:extLst>
          </p:cNvPr>
          <p:cNvSpPr txBox="1">
            <a:spLocks/>
          </p:cNvSpPr>
          <p:nvPr/>
        </p:nvSpPr>
        <p:spPr>
          <a:xfrm>
            <a:off x="862642" y="5122743"/>
            <a:ext cx="10466716" cy="108237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a:t>“Jerk signal entropy of the accelerometer’s Y-axis body component”</a:t>
            </a:r>
          </a:p>
        </p:txBody>
      </p:sp>
    </p:spTree>
    <p:extLst>
      <p:ext uri="{BB962C8B-B14F-4D97-AF65-F5344CB8AC3E}">
        <p14:creationId xmlns:p14="http://schemas.microsoft.com/office/powerpoint/2010/main" val="734060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79B1-C4DB-DD3B-BE35-5252E51AC82F}"/>
              </a:ext>
            </a:extLst>
          </p:cNvPr>
          <p:cNvSpPr>
            <a:spLocks noGrp="1"/>
          </p:cNvSpPr>
          <p:nvPr>
            <p:ph type="title" idx="4294967295"/>
          </p:nvPr>
        </p:nvSpPr>
        <p:spPr>
          <a:xfrm>
            <a:off x="537928" y="539093"/>
            <a:ext cx="10515600" cy="692150"/>
          </a:xfrm>
        </p:spPr>
        <p:txBody>
          <a:bodyPr>
            <a:normAutofit fontScale="90000"/>
          </a:bodyPr>
          <a:lstStyle/>
          <a:p>
            <a:r>
              <a:rPr lang="en-US">
                <a:solidFill>
                  <a:srgbClr val="C00000"/>
                </a:solidFill>
              </a:rPr>
              <a:t>EDA: Class Distribution of Activities</a:t>
            </a:r>
          </a:p>
        </p:txBody>
      </p:sp>
      <p:sp>
        <p:nvSpPr>
          <p:cNvPr id="4" name="AutoShape 2">
            <a:extLst>
              <a:ext uri="{FF2B5EF4-FFF2-40B4-BE49-F238E27FC236}">
                <a16:creationId xmlns:a16="http://schemas.microsoft.com/office/drawing/2014/main" id="{DC496C61-66EA-91FD-22AB-D58CD93722E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4">
            <a:extLst>
              <a:ext uri="{FF2B5EF4-FFF2-40B4-BE49-F238E27FC236}">
                <a16:creationId xmlns:a16="http://schemas.microsoft.com/office/drawing/2014/main" id="{01D7AEF4-2723-20FA-12F6-F34ACD96AB93}"/>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37EF295B-0C6F-1998-C245-66B8BCD49AEF}"/>
              </a:ext>
            </a:extLst>
          </p:cNvPr>
          <p:cNvPicPr>
            <a:picLocks noChangeAspect="1"/>
          </p:cNvPicPr>
          <p:nvPr/>
        </p:nvPicPr>
        <p:blipFill>
          <a:blip r:embed="rId2"/>
          <a:stretch>
            <a:fillRect/>
          </a:stretch>
        </p:blipFill>
        <p:spPr>
          <a:xfrm>
            <a:off x="210239" y="1581323"/>
            <a:ext cx="7682118" cy="4742360"/>
          </a:xfrm>
          <a:prstGeom prst="rect">
            <a:avLst/>
          </a:prstGeom>
        </p:spPr>
      </p:pic>
      <p:sp>
        <p:nvSpPr>
          <p:cNvPr id="14" name="TextBox 13">
            <a:extLst>
              <a:ext uri="{FF2B5EF4-FFF2-40B4-BE49-F238E27FC236}">
                <a16:creationId xmlns:a16="http://schemas.microsoft.com/office/drawing/2014/main" id="{72C6660E-8EA0-F58B-7F24-6BF8EEF69F36}"/>
              </a:ext>
            </a:extLst>
          </p:cNvPr>
          <p:cNvSpPr txBox="1"/>
          <p:nvPr/>
        </p:nvSpPr>
        <p:spPr>
          <a:xfrm>
            <a:off x="7764185" y="4087108"/>
            <a:ext cx="4427815" cy="2031325"/>
          </a:xfrm>
          <a:prstGeom prst="rect">
            <a:avLst/>
          </a:prstGeom>
          <a:noFill/>
        </p:spPr>
        <p:txBody>
          <a:bodyPr wrap="none" rtlCol="0">
            <a:spAutoFit/>
          </a:bodyPr>
          <a:lstStyle/>
          <a:p>
            <a:r>
              <a:rPr lang="en-US" b="1" dirty="0"/>
              <a:t>Key Observations</a:t>
            </a:r>
            <a:endParaRPr lang="en-US" dirty="0"/>
          </a:p>
          <a:p>
            <a:pPr marL="285750" indent="-285750">
              <a:buFont typeface="Arial" panose="020B0604020202020204" pitchFamily="34" charset="0"/>
              <a:buChar char="•"/>
            </a:pPr>
            <a:r>
              <a:rPr lang="en-US" dirty="0"/>
              <a:t>Classes are </a:t>
            </a:r>
            <a:r>
              <a:rPr lang="en-US" b="1" dirty="0"/>
              <a:t>approximately balanced</a:t>
            </a:r>
            <a:r>
              <a:rPr lang="en-US" dirty="0"/>
              <a:t> </a:t>
            </a:r>
          </a:p>
          <a:p>
            <a:pPr marL="285750" indent="-285750">
              <a:buFont typeface="Arial" panose="020B0604020202020204" pitchFamily="34" charset="0"/>
              <a:buChar char="•"/>
            </a:pPr>
            <a:r>
              <a:rPr lang="en-US" dirty="0"/>
              <a:t>No dominant or rare class </a:t>
            </a:r>
          </a:p>
          <a:p>
            <a:pPr marL="285750" indent="-285750">
              <a:buFont typeface="Arial" panose="020B0604020202020204" pitchFamily="34" charset="0"/>
              <a:buChar char="•"/>
            </a:pPr>
            <a:r>
              <a:rPr lang="en-US" dirty="0"/>
              <a:t>Slight variation across activities</a:t>
            </a:r>
          </a:p>
          <a:p>
            <a:endParaRPr lang="en-US" dirty="0"/>
          </a:p>
          <a:p>
            <a:pPr marL="285750" indent="-285750">
              <a:buFont typeface="Wingdings" panose="05000000000000000000" pitchFamily="2" charset="2"/>
              <a:buChar char="Ø"/>
            </a:pPr>
            <a:r>
              <a:rPr lang="en-US" dirty="0"/>
              <a:t>Accuracy is a reliable evaluation metric</a:t>
            </a:r>
          </a:p>
          <a:p>
            <a:endParaRPr lang="en-US" dirty="0"/>
          </a:p>
        </p:txBody>
      </p:sp>
    </p:spTree>
    <p:extLst>
      <p:ext uri="{BB962C8B-B14F-4D97-AF65-F5344CB8AC3E}">
        <p14:creationId xmlns:p14="http://schemas.microsoft.com/office/powerpoint/2010/main" val="37245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8AD5A-4668-8B85-8412-28352DA43E03}"/>
              </a:ext>
            </a:extLst>
          </p:cNvPr>
          <p:cNvSpPr>
            <a:spLocks noGrp="1"/>
          </p:cNvSpPr>
          <p:nvPr>
            <p:ph type="title"/>
          </p:nvPr>
        </p:nvSpPr>
        <p:spPr>
          <a:xfrm>
            <a:off x="838200" y="365125"/>
            <a:ext cx="10515600" cy="857747"/>
          </a:xfrm>
        </p:spPr>
        <p:txBody>
          <a:bodyPr/>
          <a:lstStyle/>
          <a:p>
            <a:r>
              <a:rPr lang="en-US" dirty="0">
                <a:solidFill>
                  <a:srgbClr val="C00000"/>
                </a:solidFill>
              </a:rPr>
              <a:t>Correlation Heatmap </a:t>
            </a:r>
            <a:r>
              <a:rPr lang="en-US" sz="2800" dirty="0">
                <a:solidFill>
                  <a:srgbClr val="C00000"/>
                </a:solidFill>
              </a:rPr>
              <a:t>(10 out of 561 features)</a:t>
            </a:r>
          </a:p>
        </p:txBody>
      </p:sp>
      <p:pic>
        <p:nvPicPr>
          <p:cNvPr id="7" name="Content Placeholder 6">
            <a:extLst>
              <a:ext uri="{FF2B5EF4-FFF2-40B4-BE49-F238E27FC236}">
                <a16:creationId xmlns:a16="http://schemas.microsoft.com/office/drawing/2014/main" id="{0CADD830-95F4-496D-04EF-81696364F68C}"/>
              </a:ext>
            </a:extLst>
          </p:cNvPr>
          <p:cNvPicPr>
            <a:picLocks noGrp="1" noChangeAspect="1"/>
          </p:cNvPicPr>
          <p:nvPr>
            <p:ph idx="1"/>
          </p:nvPr>
        </p:nvPicPr>
        <p:blipFill>
          <a:blip r:embed="rId2"/>
          <a:stretch>
            <a:fillRect/>
          </a:stretch>
        </p:blipFill>
        <p:spPr bwMode="auto">
          <a:xfrm>
            <a:off x="-10098" y="1222872"/>
            <a:ext cx="7677839" cy="473971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ED53E1-A170-9FAE-6605-31D6343EE1FA}"/>
              </a:ext>
            </a:extLst>
          </p:cNvPr>
          <p:cNvSpPr txBox="1"/>
          <p:nvPr/>
        </p:nvSpPr>
        <p:spPr>
          <a:xfrm>
            <a:off x="6819442" y="1222872"/>
            <a:ext cx="5111825" cy="1477328"/>
          </a:xfrm>
          <a:prstGeom prst="rect">
            <a:avLst/>
          </a:prstGeom>
          <a:noFill/>
        </p:spPr>
        <p:txBody>
          <a:bodyPr wrap="square" rtlCol="0">
            <a:spAutoFit/>
          </a:bodyPr>
          <a:lstStyle/>
          <a:p>
            <a:r>
              <a:rPr lang="en-US" b="1" dirty="0"/>
              <a:t>Key Observations</a:t>
            </a:r>
          </a:p>
          <a:p>
            <a:pPr marL="285750" indent="-285750">
              <a:buFont typeface="Arial" panose="020B0604020202020204" pitchFamily="34" charset="0"/>
              <a:buChar char="•"/>
            </a:pPr>
            <a:r>
              <a:rPr lang="en-US" dirty="0"/>
              <a:t>Strong </a:t>
            </a:r>
            <a:r>
              <a:rPr lang="en-US" b="1" dirty="0"/>
              <a:t>positive correlations</a:t>
            </a:r>
            <a:r>
              <a:rPr lang="en-US" dirty="0"/>
              <a:t> among variability features</a:t>
            </a:r>
            <a:br>
              <a:rPr lang="en-US" dirty="0"/>
            </a:br>
            <a:r>
              <a:rPr lang="en-US" i="1" dirty="0"/>
              <a:t>(e.g., std, mad, max)</a:t>
            </a:r>
            <a:r>
              <a:rPr lang="en-US" dirty="0"/>
              <a:t> </a:t>
            </a:r>
          </a:p>
          <a:p>
            <a:pPr marL="285750" indent="-285750">
              <a:buFont typeface="Arial" panose="020B0604020202020204" pitchFamily="34" charset="0"/>
              <a:buChar char="•"/>
            </a:pPr>
            <a:r>
              <a:rPr lang="en-US" dirty="0"/>
              <a:t>Mean features show </a:t>
            </a:r>
            <a:r>
              <a:rPr lang="en-US" b="1" dirty="0"/>
              <a:t>weaker correlations</a:t>
            </a:r>
            <a:r>
              <a:rPr lang="en-US" dirty="0"/>
              <a:t> </a:t>
            </a:r>
          </a:p>
        </p:txBody>
      </p:sp>
      <p:sp>
        <p:nvSpPr>
          <p:cNvPr id="9" name="TextBox 8">
            <a:extLst>
              <a:ext uri="{FF2B5EF4-FFF2-40B4-BE49-F238E27FC236}">
                <a16:creationId xmlns:a16="http://schemas.microsoft.com/office/drawing/2014/main" id="{059852FD-43F4-1738-78B4-F62E8A73FBFD}"/>
              </a:ext>
            </a:extLst>
          </p:cNvPr>
          <p:cNvSpPr txBox="1"/>
          <p:nvPr/>
        </p:nvSpPr>
        <p:spPr>
          <a:xfrm>
            <a:off x="6816858" y="3289780"/>
            <a:ext cx="5111825" cy="1754326"/>
          </a:xfrm>
          <a:prstGeom prst="rect">
            <a:avLst/>
          </a:prstGeom>
          <a:noFill/>
        </p:spPr>
        <p:txBody>
          <a:bodyPr wrap="square" rtlCol="0">
            <a:spAutoFit/>
          </a:bodyPr>
          <a:lstStyle/>
          <a:p>
            <a:r>
              <a:rPr lang="en-US" b="1" dirty="0"/>
              <a:t>Interpretation</a:t>
            </a:r>
          </a:p>
          <a:p>
            <a:pPr marL="285750" indent="-285750">
              <a:buFont typeface="Arial" panose="020B0604020202020204" pitchFamily="34" charset="0"/>
              <a:buChar char="•"/>
            </a:pPr>
            <a:r>
              <a:rPr lang="en-US" dirty="0"/>
              <a:t>Many features are </a:t>
            </a:r>
            <a:r>
              <a:rPr lang="en-US" b="1" dirty="0"/>
              <a:t>highly redundant</a:t>
            </a:r>
            <a:r>
              <a:rPr lang="en-US" dirty="0"/>
              <a:t> </a:t>
            </a:r>
          </a:p>
          <a:p>
            <a:pPr marL="285750" indent="-285750">
              <a:buFont typeface="Arial" panose="020B0604020202020204" pitchFamily="34" charset="0"/>
              <a:buChar char="•"/>
            </a:pPr>
            <a:r>
              <a:rPr lang="en-US" dirty="0"/>
              <a:t>Dataset exhibits </a:t>
            </a:r>
            <a:r>
              <a:rPr lang="en-US" b="1" dirty="0"/>
              <a:t>multicollinearity</a:t>
            </a:r>
            <a:r>
              <a:rPr lang="en-US" dirty="0"/>
              <a:t> </a:t>
            </a:r>
          </a:p>
          <a:p>
            <a:pPr marL="285750" indent="-285750">
              <a:buFont typeface="Arial" panose="020B0604020202020204" pitchFamily="34" charset="0"/>
              <a:buChar char="•"/>
            </a:pPr>
            <a:r>
              <a:rPr lang="en-US" dirty="0"/>
              <a:t>High dimensionality does </a:t>
            </a:r>
            <a:r>
              <a:rPr lang="en-US" b="1" dirty="0"/>
              <a:t>not imply independent information</a:t>
            </a:r>
            <a:endParaRPr lang="en-US" dirty="0"/>
          </a:p>
          <a:p>
            <a:endParaRPr lang="en-US" dirty="0"/>
          </a:p>
        </p:txBody>
      </p:sp>
      <p:sp>
        <p:nvSpPr>
          <p:cNvPr id="10" name="TextBox 9">
            <a:extLst>
              <a:ext uri="{FF2B5EF4-FFF2-40B4-BE49-F238E27FC236}">
                <a16:creationId xmlns:a16="http://schemas.microsoft.com/office/drawing/2014/main" id="{4DE0E52E-88C6-43B9-F583-3F1046BDF027}"/>
              </a:ext>
            </a:extLst>
          </p:cNvPr>
          <p:cNvSpPr txBox="1"/>
          <p:nvPr/>
        </p:nvSpPr>
        <p:spPr>
          <a:xfrm>
            <a:off x="6687240" y="5142055"/>
            <a:ext cx="5244027" cy="1200329"/>
          </a:xfrm>
          <a:prstGeom prst="rect">
            <a:avLst/>
          </a:prstGeom>
          <a:noFill/>
        </p:spPr>
        <p:txBody>
          <a:bodyPr wrap="square" rtlCol="0">
            <a:spAutoFit/>
          </a:bodyPr>
          <a:lstStyle/>
          <a:p>
            <a:pPr marL="285750" indent="-285750">
              <a:buFont typeface="Wingdings" panose="05000000000000000000" pitchFamily="2" charset="2"/>
              <a:buChar char="Ø"/>
            </a:pPr>
            <a:r>
              <a:rPr lang="en-US" dirty="0"/>
              <a:t>Motivates the use of </a:t>
            </a:r>
            <a:r>
              <a:rPr lang="en-US" b="1" dirty="0"/>
              <a:t>PCA for dimensionality reduction</a:t>
            </a:r>
          </a:p>
          <a:p>
            <a:pPr marL="285750" indent="-285750">
              <a:buFont typeface="Wingdings" panose="05000000000000000000" pitchFamily="2" charset="2"/>
              <a:buChar char="Ø"/>
            </a:pPr>
            <a:r>
              <a:rPr lang="en-US" dirty="0"/>
              <a:t>Reduce redundancy while preserving key structure</a:t>
            </a:r>
          </a:p>
        </p:txBody>
      </p:sp>
    </p:spTree>
    <p:extLst>
      <p:ext uri="{BB962C8B-B14F-4D97-AF65-F5344CB8AC3E}">
        <p14:creationId xmlns:p14="http://schemas.microsoft.com/office/powerpoint/2010/main" val="3561222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93532-44D4-46A2-A3A6-ADBE58D55237}"/>
              </a:ext>
            </a:extLst>
          </p:cNvPr>
          <p:cNvSpPr>
            <a:spLocks noGrp="1"/>
          </p:cNvSpPr>
          <p:nvPr>
            <p:ph type="title"/>
          </p:nvPr>
        </p:nvSpPr>
        <p:spPr>
          <a:xfrm>
            <a:off x="838200" y="197125"/>
            <a:ext cx="10515600" cy="1325563"/>
          </a:xfrm>
        </p:spPr>
        <p:txBody>
          <a:bodyPr/>
          <a:lstStyle/>
          <a:p>
            <a:r>
              <a:rPr lang="en-US">
                <a:solidFill>
                  <a:srgbClr val="C00000"/>
                </a:solidFill>
              </a:rPr>
              <a:t>Pairwise Correlations Distribution</a:t>
            </a:r>
          </a:p>
        </p:txBody>
      </p:sp>
      <p:pic>
        <p:nvPicPr>
          <p:cNvPr id="5" name="Content Placeholder 4" descr="A graph of a distribution of pairs&#10;&#10;AI-generated content may be incorrect.">
            <a:extLst>
              <a:ext uri="{FF2B5EF4-FFF2-40B4-BE49-F238E27FC236}">
                <a16:creationId xmlns:a16="http://schemas.microsoft.com/office/drawing/2014/main" id="{41D959F3-2F06-F72E-B58C-845063FB0FBC}"/>
              </a:ext>
            </a:extLst>
          </p:cNvPr>
          <p:cNvPicPr>
            <a:picLocks noGrp="1" noChangeAspect="1"/>
          </p:cNvPicPr>
          <p:nvPr>
            <p:ph idx="1"/>
          </p:nvPr>
        </p:nvPicPr>
        <p:blipFill>
          <a:blip r:embed="rId2"/>
          <a:stretch>
            <a:fillRect/>
          </a:stretch>
        </p:blipFill>
        <p:spPr>
          <a:xfrm>
            <a:off x="839080" y="1356200"/>
            <a:ext cx="5948267" cy="535193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96D922B-A33A-3A68-8A92-D830AA5351B3}"/>
                  </a:ext>
                </a:extLst>
              </p:cNvPr>
              <p:cNvSpPr txBox="1"/>
              <p:nvPr/>
            </p:nvSpPr>
            <p:spPr>
              <a:xfrm>
                <a:off x="7386444" y="1711333"/>
                <a:ext cx="3781777" cy="4183133"/>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We see many pairwise combinations of features are highly pairwise correlated</a:t>
                </a:r>
              </a:p>
              <a:p>
                <a:endParaRPr lang="en-US"/>
              </a:p>
              <a:p>
                <a:r>
                  <a:rPr lang="en-US"/>
                  <a:t>➡️ In fact, out of  </a:t>
                </a:r>
                <a14:m>
                  <m:oMath xmlns:m="http://schemas.openxmlformats.org/officeDocument/2006/math">
                    <m:d>
                      <m:dPr>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r>
                                <m:rPr>
                                  <m:brk m:alnAt="7"/>
                                </m:rPr>
                                <a:rPr lang="en-US" b="0" i="1" smtClean="0">
                                  <a:latin typeface="Cambria Math" panose="02040503050406030204" pitchFamily="18" charset="0"/>
                                </a:rPr>
                                <m:t>5</m:t>
                              </m:r>
                              <m:r>
                                <a:rPr lang="en-US" b="0" i="1" smtClean="0">
                                  <a:latin typeface="Cambria Math" panose="02040503050406030204" pitchFamily="18" charset="0"/>
                                </a:rPr>
                                <m:t>61</m:t>
                              </m:r>
                            </m:e>
                          </m:mr>
                          <m:mr>
                            <m:e>
                              <m:r>
                                <a:rPr lang="en-US" b="0" i="1" smtClean="0">
                                  <a:latin typeface="Cambria Math" panose="02040503050406030204" pitchFamily="18" charset="0"/>
                                </a:rPr>
                                <m:t>2</m:t>
                              </m:r>
                            </m:e>
                          </m:mr>
                        </m:m>
                      </m:e>
                    </m:d>
                  </m:oMath>
                </a14:m>
                <a:r>
                  <a:rPr lang="en-US"/>
                  <a:t> = 157,080 pairwise correlations, roughly 5% are greater than 0.9 and roughly 15% are greater than 0.8.</a:t>
                </a:r>
              </a:p>
              <a:p>
                <a:endParaRPr lang="en-US"/>
              </a:p>
              <a:p>
                <a:r>
                  <a:rPr lang="en-US"/>
                  <a:t>➡️ The case for dimensionality reduction is strong, because many features are giving approximately the same information as other features in the dataset.</a:t>
                </a:r>
              </a:p>
            </p:txBody>
          </p:sp>
        </mc:Choice>
        <mc:Fallback xmlns="">
          <p:sp>
            <p:nvSpPr>
              <p:cNvPr id="8" name="TextBox 7">
                <a:extLst>
                  <a:ext uri="{FF2B5EF4-FFF2-40B4-BE49-F238E27FC236}">
                    <a16:creationId xmlns:a16="http://schemas.microsoft.com/office/drawing/2014/main" id="{396D922B-A33A-3A68-8A92-D830AA5351B3}"/>
                  </a:ext>
                </a:extLst>
              </p:cNvPr>
              <p:cNvSpPr txBox="1">
                <a:spLocks noRot="1" noChangeAspect="1" noMove="1" noResize="1" noEditPoints="1" noAdjustHandles="1" noChangeArrowheads="1" noChangeShapeType="1" noTextEdit="1"/>
              </p:cNvSpPr>
              <p:nvPr/>
            </p:nvSpPr>
            <p:spPr>
              <a:xfrm>
                <a:off x="7386444" y="1711333"/>
                <a:ext cx="3781777" cy="4183133"/>
              </a:xfrm>
              <a:prstGeom prst="rect">
                <a:avLst/>
              </a:prstGeom>
              <a:blipFill>
                <a:blip r:embed="rId3"/>
                <a:stretch>
                  <a:fillRect l="-1452" t="-1020" r="-645" b="-875"/>
                </a:stretch>
              </a:blipFill>
              <a:ln>
                <a:no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42710F8E-A661-3503-469F-0165F009F828}"/>
              </a:ext>
            </a:extLst>
          </p:cNvPr>
          <p:cNvSpPr/>
          <p:nvPr/>
        </p:nvSpPr>
        <p:spPr>
          <a:xfrm>
            <a:off x="7484102" y="1708432"/>
            <a:ext cx="349452" cy="3397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9E480F-64AF-35A2-30C9-4A07592488E0}"/>
              </a:ext>
            </a:extLst>
          </p:cNvPr>
          <p:cNvSpPr/>
          <p:nvPr/>
        </p:nvSpPr>
        <p:spPr>
          <a:xfrm>
            <a:off x="7484101" y="2920432"/>
            <a:ext cx="349452" cy="3397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4545B6F-4744-0297-C9A9-6052C7334C76}"/>
              </a:ext>
            </a:extLst>
          </p:cNvPr>
          <p:cNvSpPr/>
          <p:nvPr/>
        </p:nvSpPr>
        <p:spPr>
          <a:xfrm>
            <a:off x="7484101" y="4336432"/>
            <a:ext cx="349452" cy="3397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82B83C6-D855-C8EE-EEE1-52FFC7C60E46}"/>
              </a:ext>
            </a:extLst>
          </p:cNvPr>
          <p:cNvSpPr txBox="1"/>
          <p:nvPr/>
        </p:nvSpPr>
        <p:spPr>
          <a:xfrm>
            <a:off x="7485860" y="1713897"/>
            <a:ext cx="4271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 </a:t>
            </a:r>
            <a:endParaRPr lang="en-US"/>
          </a:p>
        </p:txBody>
      </p:sp>
      <p:sp>
        <p:nvSpPr>
          <p:cNvPr id="12" name="TextBox 11">
            <a:extLst>
              <a:ext uri="{FF2B5EF4-FFF2-40B4-BE49-F238E27FC236}">
                <a16:creationId xmlns:a16="http://schemas.microsoft.com/office/drawing/2014/main" id="{B79E886F-2100-2061-0AF5-20B46FEDC41C}"/>
              </a:ext>
            </a:extLst>
          </p:cNvPr>
          <p:cNvSpPr txBox="1"/>
          <p:nvPr/>
        </p:nvSpPr>
        <p:spPr>
          <a:xfrm>
            <a:off x="7485859" y="2919896"/>
            <a:ext cx="42710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 </a:t>
            </a:r>
            <a:endParaRPr lang="en-US"/>
          </a:p>
        </p:txBody>
      </p:sp>
      <p:sp>
        <p:nvSpPr>
          <p:cNvPr id="16" name="TextBox 15">
            <a:extLst>
              <a:ext uri="{FF2B5EF4-FFF2-40B4-BE49-F238E27FC236}">
                <a16:creationId xmlns:a16="http://schemas.microsoft.com/office/drawing/2014/main" id="{1E08536A-B09C-E51D-22BB-74B7C4A12E3D}"/>
              </a:ext>
            </a:extLst>
          </p:cNvPr>
          <p:cNvSpPr txBox="1"/>
          <p:nvPr/>
        </p:nvSpPr>
        <p:spPr>
          <a:xfrm>
            <a:off x="7483031" y="4334445"/>
            <a:ext cx="495057" cy="3688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ea typeface="+mn-lt"/>
                <a:cs typeface="+mn-lt"/>
              </a:rPr>
              <a:t> </a:t>
            </a:r>
            <a:endParaRPr lang="en-US"/>
          </a:p>
        </p:txBody>
      </p:sp>
    </p:spTree>
    <p:extLst>
      <p:ext uri="{BB962C8B-B14F-4D97-AF65-F5344CB8AC3E}">
        <p14:creationId xmlns:p14="http://schemas.microsoft.com/office/powerpoint/2010/main" val="79788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3F0900-7560-7A7A-C476-21AF2E75DB7F}"/>
              </a:ext>
            </a:extLst>
          </p:cNvPr>
          <p:cNvPicPr>
            <a:picLocks noChangeAspect="1"/>
          </p:cNvPicPr>
          <p:nvPr/>
        </p:nvPicPr>
        <p:blipFill>
          <a:blip r:embed="rId2"/>
          <a:stretch>
            <a:fillRect/>
          </a:stretch>
        </p:blipFill>
        <p:spPr>
          <a:xfrm>
            <a:off x="364475" y="351105"/>
            <a:ext cx="8686800" cy="5362575"/>
          </a:xfrm>
          <a:prstGeom prst="rect">
            <a:avLst/>
          </a:prstGeom>
        </p:spPr>
      </p:pic>
      <p:sp>
        <p:nvSpPr>
          <p:cNvPr id="5" name="TextBox 4">
            <a:extLst>
              <a:ext uri="{FF2B5EF4-FFF2-40B4-BE49-F238E27FC236}">
                <a16:creationId xmlns:a16="http://schemas.microsoft.com/office/drawing/2014/main" id="{69F35E4B-0317-7158-E719-1422B5DE2115}"/>
              </a:ext>
            </a:extLst>
          </p:cNvPr>
          <p:cNvSpPr txBox="1"/>
          <p:nvPr/>
        </p:nvSpPr>
        <p:spPr>
          <a:xfrm>
            <a:off x="9357129" y="888824"/>
            <a:ext cx="2489812" cy="5355312"/>
          </a:xfrm>
          <a:prstGeom prst="rect">
            <a:avLst/>
          </a:prstGeom>
          <a:noFill/>
        </p:spPr>
        <p:txBody>
          <a:bodyPr wrap="square" lIns="91440" tIns="45720" rIns="91440" bIns="45720" rtlCol="0" anchor="t">
            <a:spAutoFit/>
          </a:bodyPr>
          <a:lstStyle/>
          <a:p>
            <a:pPr marL="285750" indent="-285750">
              <a:buFont typeface="Wingdings" panose="05000000000000000000" pitchFamily="2" charset="2"/>
              <a:buChar char="Ø"/>
            </a:pPr>
            <a:r>
              <a:rPr lang="en-US" dirty="0"/>
              <a:t> Features are bounded to [-1, 1] but distributions differ widely in shape and spread </a:t>
            </a:r>
          </a:p>
          <a:p>
            <a:endParaRPr lang="en-US" dirty="0"/>
          </a:p>
          <a:p>
            <a:pPr marL="285750" indent="-285750">
              <a:buFont typeface="Wingdings" panose="05000000000000000000" pitchFamily="2" charset="2"/>
              <a:buChar char="Ø"/>
            </a:pPr>
            <a:r>
              <a:rPr lang="en-US" dirty="0"/>
              <a:t>Mean features are zero-inflated; std features are left-skewed near –1</a:t>
            </a:r>
          </a:p>
          <a:p>
            <a:endParaRPr lang="en-US" dirty="0"/>
          </a:p>
          <a:p>
            <a:pPr marL="285750" indent="-285750">
              <a:buFont typeface="Wingdings" panose="05000000000000000000" pitchFamily="2" charset="2"/>
              <a:buChar char="Ø"/>
            </a:pPr>
            <a:r>
              <a:rPr lang="en-US" b="1" dirty="0"/>
              <a:t>Standardization</a:t>
            </a:r>
            <a:r>
              <a:rPr lang="en-US" dirty="0"/>
              <a:t> (mean=0, </a:t>
            </a:r>
            <a:r>
              <a:rPr lang="en-US" dirty="0" err="1"/>
              <a:t>sd</a:t>
            </a:r>
            <a:r>
              <a:rPr lang="en-US" dirty="0"/>
              <a:t>=1) is required before applying </a:t>
            </a:r>
            <a:r>
              <a:rPr lang="en-US" b="1" dirty="0"/>
              <a:t>PCA</a:t>
            </a:r>
          </a:p>
          <a:p>
            <a:endParaRPr lang="en-US" b="1" dirty="0"/>
          </a:p>
          <a:p>
            <a:pPr marL="285750" indent="-285750">
              <a:buFont typeface="Wingdings" panose="05000000000000000000" pitchFamily="2" charset="2"/>
              <a:buChar char="Ø"/>
            </a:pPr>
            <a:r>
              <a:rPr lang="en-US" dirty="0"/>
              <a:t>apply sweep() on training data to avoid data leakage</a:t>
            </a:r>
          </a:p>
        </p:txBody>
      </p:sp>
    </p:spTree>
    <p:extLst>
      <p:ext uri="{BB962C8B-B14F-4D97-AF65-F5344CB8AC3E}">
        <p14:creationId xmlns:p14="http://schemas.microsoft.com/office/powerpoint/2010/main" val="3907927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8D1D6D-C7C0-625E-A173-EAE9A1E577EC}"/>
              </a:ext>
            </a:extLst>
          </p:cNvPr>
          <p:cNvSpPr txBox="1"/>
          <p:nvPr/>
        </p:nvSpPr>
        <p:spPr>
          <a:xfrm>
            <a:off x="624000" y="315000"/>
            <a:ext cx="10260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C00000"/>
                </a:solidFill>
                <a:latin typeface="Aptos Display"/>
              </a:rPr>
              <a:t>Why We Standardize</a:t>
            </a:r>
            <a:endParaRPr lang="en-US">
              <a:solidFill>
                <a:srgbClr val="C00000"/>
              </a:solidFill>
              <a:latin typeface="Aptos"/>
            </a:endParaRPr>
          </a:p>
        </p:txBody>
      </p:sp>
      <p:pic>
        <p:nvPicPr>
          <p:cNvPr id="4" name="Picture 3" descr="A graph of a standard deviation distribution&#10;&#10;AI-generated content may be incorrect.">
            <a:extLst>
              <a:ext uri="{FF2B5EF4-FFF2-40B4-BE49-F238E27FC236}">
                <a16:creationId xmlns:a16="http://schemas.microsoft.com/office/drawing/2014/main" id="{572836F6-B453-F85C-86EE-27143ECA6003}"/>
              </a:ext>
            </a:extLst>
          </p:cNvPr>
          <p:cNvPicPr>
            <a:picLocks noChangeAspect="1"/>
          </p:cNvPicPr>
          <p:nvPr/>
        </p:nvPicPr>
        <p:blipFill>
          <a:blip r:embed="rId2"/>
          <a:stretch>
            <a:fillRect/>
          </a:stretch>
        </p:blipFill>
        <p:spPr>
          <a:xfrm>
            <a:off x="408148" y="1543277"/>
            <a:ext cx="7554039" cy="4755445"/>
          </a:xfrm>
          <a:prstGeom prst="rect">
            <a:avLst/>
          </a:prstGeom>
        </p:spPr>
      </p:pic>
      <p:sp>
        <p:nvSpPr>
          <p:cNvPr id="5" name="TextBox 4">
            <a:extLst>
              <a:ext uri="{FF2B5EF4-FFF2-40B4-BE49-F238E27FC236}">
                <a16:creationId xmlns:a16="http://schemas.microsoft.com/office/drawing/2014/main" id="{4B4C6118-639C-AF7C-E5E5-7FC917C2F596}"/>
              </a:ext>
            </a:extLst>
          </p:cNvPr>
          <p:cNvSpPr txBox="1"/>
          <p:nvPr/>
        </p:nvSpPr>
        <p:spPr>
          <a:xfrm>
            <a:off x="7704333" y="1722500"/>
            <a:ext cx="4487333" cy="3970318"/>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t>The features have noticeably different standard deviations, meaning they exist on different scales. </a:t>
            </a:r>
          </a:p>
          <a:p>
            <a:pPr marL="285750" indent="-285750">
              <a:buFont typeface="Wingdings"/>
              <a:buChar char="Ø"/>
            </a:pPr>
            <a:endParaRPr lang="en-US"/>
          </a:p>
          <a:p>
            <a:pPr marL="285750" indent="-285750">
              <a:buFont typeface="Wingdings"/>
              <a:buChar char="Ø"/>
            </a:pPr>
            <a:r>
              <a:rPr lang="en-US"/>
              <a:t>Higher variance features will be given more influence in PCA because PCA prioritizes the highest variance directions.</a:t>
            </a:r>
          </a:p>
          <a:p>
            <a:endParaRPr lang="en-US"/>
          </a:p>
          <a:p>
            <a:pPr marL="285750" indent="-285750">
              <a:buFont typeface="Wingdings"/>
              <a:buChar char="Ø"/>
            </a:pPr>
            <a:r>
              <a:rPr lang="en-US" b="1"/>
              <a:t>Standardization prevents high variance features from dominating the component analysis.</a:t>
            </a:r>
            <a:endParaRPr lang="en-US" b="1" dirty="0"/>
          </a:p>
          <a:p>
            <a:endParaRPr lang="en-US"/>
          </a:p>
          <a:p>
            <a:endParaRPr lang="en-US"/>
          </a:p>
        </p:txBody>
      </p:sp>
    </p:spTree>
    <p:extLst>
      <p:ext uri="{BB962C8B-B14F-4D97-AF65-F5344CB8AC3E}">
        <p14:creationId xmlns:p14="http://schemas.microsoft.com/office/powerpoint/2010/main" val="3447219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BD4CC-37AE-0A22-B293-135038C19D2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2E691E9-0C54-3BA6-00EE-ABE7927A1533}"/>
              </a:ext>
            </a:extLst>
          </p:cNvPr>
          <p:cNvSpPr txBox="1"/>
          <p:nvPr/>
        </p:nvSpPr>
        <p:spPr>
          <a:xfrm>
            <a:off x="624000" y="315000"/>
            <a:ext cx="1026000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C00000"/>
                </a:solidFill>
                <a:latin typeface="Aptos Display"/>
              </a:rPr>
              <a:t>Introduction to LDA</a:t>
            </a:r>
          </a:p>
        </p:txBody>
      </p:sp>
      <p:sp>
        <p:nvSpPr>
          <p:cNvPr id="6" name="Content Placeholder 2">
            <a:extLst>
              <a:ext uri="{FF2B5EF4-FFF2-40B4-BE49-F238E27FC236}">
                <a16:creationId xmlns:a16="http://schemas.microsoft.com/office/drawing/2014/main" id="{62278207-0E71-5732-FEB8-C2DB01A9B62D}"/>
              </a:ext>
            </a:extLst>
          </p:cNvPr>
          <p:cNvSpPr txBox="1">
            <a:spLocks/>
          </p:cNvSpPr>
          <p:nvPr/>
        </p:nvSpPr>
        <p:spPr>
          <a:xfrm>
            <a:off x="838200" y="1399625"/>
            <a:ext cx="10515600" cy="5023338"/>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20B0604020202020204" pitchFamily="34" charset="0"/>
              <a:buChar char="Ø"/>
            </a:pPr>
            <a:r>
              <a:rPr lang="en-US"/>
              <a:t>Assumption: Class specific distributions follow MVN distributions with equal variance-covariance matrices:</a:t>
            </a:r>
          </a:p>
          <a:p>
            <a:pPr marL="0" indent="0">
              <a:buNone/>
            </a:pPr>
            <a:endParaRPr lang="en-US"/>
          </a:p>
          <a:p>
            <a:pPr marL="0" indent="0">
              <a:buNone/>
            </a:pPr>
            <a:endParaRPr lang="en-US"/>
          </a:p>
          <a:p>
            <a:pPr>
              <a:buFont typeface="Wingdings" panose="020B0604020202020204" pitchFamily="34" charset="0"/>
              <a:buChar char="Ø"/>
            </a:pPr>
            <a:endParaRPr lang="en-US"/>
          </a:p>
          <a:p>
            <a:pPr>
              <a:buFont typeface="Wingdings" panose="020B0604020202020204" pitchFamily="34" charset="0"/>
              <a:buChar char="Ø"/>
            </a:pPr>
            <a:r>
              <a:rPr lang="en-US"/>
              <a:t>In practice, we compute a pooled estimator for the common covariance matrix.</a:t>
            </a:r>
          </a:p>
          <a:p>
            <a:pPr>
              <a:buFont typeface="Wingdings" panose="020B0604020202020204" pitchFamily="34" charset="0"/>
              <a:buChar char="Ø"/>
            </a:pPr>
            <a:r>
              <a:rPr lang="en-US"/>
              <a:t>We compute a discriminant score for each observation in the test set for each class using class-specific sample mean vectors and the pooled covariance matrix of the scaled training set.</a:t>
            </a:r>
          </a:p>
          <a:p>
            <a:pPr>
              <a:buFont typeface="Wingdings" panose="020B0604020202020204" pitchFamily="34" charset="0"/>
              <a:buChar char="Ø"/>
            </a:pPr>
            <a:r>
              <a:rPr lang="en-US"/>
              <a:t>We assign an observation to a class with the highest discriminant score.</a:t>
            </a:r>
          </a:p>
          <a:p>
            <a:pPr>
              <a:buFont typeface="Wingdings" panose="020B0604020202020204" pitchFamily="34" charset="0"/>
              <a:buChar char="Ø"/>
            </a:pPr>
            <a:r>
              <a:rPr lang="en-US"/>
              <a:t>Equal covariance assumption forces a linear decision boundary in high dimensional space.</a:t>
            </a:r>
          </a:p>
          <a:p>
            <a:pPr>
              <a:buFont typeface="Wingdings" panose="020B0604020202020204" pitchFamily="34" charset="0"/>
              <a:buChar char="Ø"/>
            </a:pPr>
            <a:endParaRPr lang="en-US"/>
          </a:p>
        </p:txBody>
      </p:sp>
      <p:pic>
        <p:nvPicPr>
          <p:cNvPr id="14" name="Picture 13">
            <a:extLst>
              <a:ext uri="{FF2B5EF4-FFF2-40B4-BE49-F238E27FC236}">
                <a16:creationId xmlns:a16="http://schemas.microsoft.com/office/drawing/2014/main" id="{0B4A7BDC-826C-A9B2-61FD-1163D516E17D}"/>
              </a:ext>
            </a:extLst>
          </p:cNvPr>
          <p:cNvPicPr>
            <a:picLocks noChangeAspect="1"/>
          </p:cNvPicPr>
          <p:nvPr/>
        </p:nvPicPr>
        <p:blipFill>
          <a:blip r:embed="rId2"/>
          <a:srcRect l="-11" t="31699" r="1" b="36340"/>
          <a:stretch>
            <a:fillRect/>
          </a:stretch>
        </p:blipFill>
        <p:spPr>
          <a:xfrm>
            <a:off x="5755862" y="2094000"/>
            <a:ext cx="5466790" cy="985928"/>
          </a:xfrm>
          <a:prstGeom prst="rect">
            <a:avLst/>
          </a:prstGeom>
        </p:spPr>
      </p:pic>
      <p:pic>
        <p:nvPicPr>
          <p:cNvPr id="15" name="Picture 14">
            <a:extLst>
              <a:ext uri="{FF2B5EF4-FFF2-40B4-BE49-F238E27FC236}">
                <a16:creationId xmlns:a16="http://schemas.microsoft.com/office/drawing/2014/main" id="{FBD3E720-FF4E-84F4-650A-65553D3B3C17}"/>
              </a:ext>
            </a:extLst>
          </p:cNvPr>
          <p:cNvPicPr>
            <a:picLocks noChangeAspect="1"/>
          </p:cNvPicPr>
          <p:nvPr/>
        </p:nvPicPr>
        <p:blipFill>
          <a:blip r:embed="rId3"/>
          <a:srcRect l="5326" t="32416" r="1042" b="39523"/>
          <a:stretch>
            <a:fillRect/>
          </a:stretch>
        </p:blipFill>
        <p:spPr>
          <a:xfrm>
            <a:off x="965273" y="2224769"/>
            <a:ext cx="4350580" cy="728511"/>
          </a:xfrm>
          <a:prstGeom prst="rect">
            <a:avLst/>
          </a:prstGeom>
        </p:spPr>
      </p:pic>
    </p:spTree>
    <p:extLst>
      <p:ext uri="{BB962C8B-B14F-4D97-AF65-F5344CB8AC3E}">
        <p14:creationId xmlns:p14="http://schemas.microsoft.com/office/powerpoint/2010/main" val="2233466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1804B6-7CBA-CA91-A8CA-3723FF339A71}"/>
              </a:ext>
            </a:extLst>
          </p:cNvPr>
          <p:cNvPicPr>
            <a:picLocks noChangeAspect="1"/>
          </p:cNvPicPr>
          <p:nvPr/>
        </p:nvPicPr>
        <p:blipFill>
          <a:blip r:embed="rId2"/>
          <a:stretch>
            <a:fillRect/>
          </a:stretch>
        </p:blipFill>
        <p:spPr>
          <a:xfrm>
            <a:off x="539170" y="1523982"/>
            <a:ext cx="6609341" cy="4033668"/>
          </a:xfrm>
          <a:prstGeom prst="rect">
            <a:avLst/>
          </a:prstGeom>
        </p:spPr>
      </p:pic>
      <p:sp>
        <p:nvSpPr>
          <p:cNvPr id="2" name="TextBox 1">
            <a:extLst>
              <a:ext uri="{FF2B5EF4-FFF2-40B4-BE49-F238E27FC236}">
                <a16:creationId xmlns:a16="http://schemas.microsoft.com/office/drawing/2014/main" id="{13A247C9-24E2-21CF-0272-76580C49D9DE}"/>
              </a:ext>
            </a:extLst>
          </p:cNvPr>
          <p:cNvSpPr txBox="1"/>
          <p:nvPr/>
        </p:nvSpPr>
        <p:spPr>
          <a:xfrm>
            <a:off x="542094" y="329859"/>
            <a:ext cx="9164455"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C00000"/>
                </a:solidFill>
                <a:latin typeface="Aptos Display"/>
              </a:rPr>
              <a:t>Baseline LDA Confusion Matrix</a:t>
            </a:r>
            <a:endParaRPr lang="en-US">
              <a:solidFill>
                <a:srgbClr val="C00000"/>
              </a:solidFill>
            </a:endParaRPr>
          </a:p>
          <a:p>
            <a:pPr algn="ctr"/>
            <a:endParaRPr lang="en-US">
              <a:solidFill>
                <a:srgbClr val="C00000"/>
              </a:solidFill>
            </a:endParaRPr>
          </a:p>
        </p:txBody>
      </p:sp>
      <p:sp>
        <p:nvSpPr>
          <p:cNvPr id="3" name="TextBox 2">
            <a:extLst>
              <a:ext uri="{FF2B5EF4-FFF2-40B4-BE49-F238E27FC236}">
                <a16:creationId xmlns:a16="http://schemas.microsoft.com/office/drawing/2014/main" id="{CFAF23CA-8F22-E5E1-1CE6-67948D37BE7B}"/>
              </a:ext>
            </a:extLst>
          </p:cNvPr>
          <p:cNvSpPr txBox="1"/>
          <p:nvPr/>
        </p:nvSpPr>
        <p:spPr>
          <a:xfrm>
            <a:off x="7490859" y="1371443"/>
            <a:ext cx="4111732"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b="1">
                <a:solidFill>
                  <a:srgbClr val="000000"/>
                </a:solidFill>
                <a:latin typeface="Aptos"/>
                <a:ea typeface="Segoe UI"/>
                <a:cs typeface="Segoe UI"/>
              </a:rPr>
              <a:t>High baseline performance on test set,</a:t>
            </a:r>
            <a:r>
              <a:rPr lang="en-US">
                <a:solidFill>
                  <a:srgbClr val="000000"/>
                </a:solidFill>
                <a:latin typeface="Aptos"/>
                <a:ea typeface="Segoe UI"/>
                <a:cs typeface="Segoe UI"/>
              </a:rPr>
              <a:t> indicative of high quality and nearly linearly separable data.</a:t>
            </a:r>
            <a:endParaRPr lang="en-US"/>
          </a:p>
          <a:p>
            <a:pPr algn="l" rtl="0"/>
            <a:endParaRPr lang="en-US" sz="1800" b="0" i="0">
              <a:solidFill>
                <a:srgbClr val="000000"/>
              </a:solidFill>
              <a:latin typeface="Aptos"/>
              <a:ea typeface="Segoe UI"/>
              <a:cs typeface="Segoe UI"/>
            </a:endParaRPr>
          </a:p>
          <a:p>
            <a:pPr marL="285750" indent="-285750">
              <a:buFont typeface="Wingdings"/>
              <a:buChar char="Ø"/>
            </a:pPr>
            <a:r>
              <a:rPr lang="en-US">
                <a:solidFill>
                  <a:srgbClr val="000000"/>
                </a:solidFill>
                <a:latin typeface="Aptos"/>
                <a:ea typeface="Segoe UI"/>
                <a:cs typeface="Segoe UI"/>
              </a:rPr>
              <a:t>The model learned to </a:t>
            </a:r>
            <a:r>
              <a:rPr lang="en-US" b="1">
                <a:solidFill>
                  <a:srgbClr val="000000"/>
                </a:solidFill>
                <a:latin typeface="Aptos"/>
                <a:ea typeface="Segoe UI"/>
                <a:cs typeface="Segoe UI"/>
              </a:rPr>
              <a:t>generalize well to unseen data</a:t>
            </a:r>
            <a:r>
              <a:rPr lang="en-US">
                <a:solidFill>
                  <a:srgbClr val="000000"/>
                </a:solidFill>
                <a:latin typeface="Aptos"/>
                <a:ea typeface="Segoe UI"/>
                <a:cs typeface="Segoe UI"/>
              </a:rPr>
              <a:t>, only seeing a few misclassifications in four out of the 6 categories.</a:t>
            </a:r>
            <a:endParaRPr lang="en-US" sz="1800" b="0" i="0" dirty="0">
              <a:solidFill>
                <a:srgbClr val="000000"/>
              </a:solidFill>
              <a:latin typeface="Aptos"/>
              <a:ea typeface="Segoe UI"/>
              <a:cs typeface="Segoe UI"/>
            </a:endParaRPr>
          </a:p>
          <a:p>
            <a:pPr marL="285750" indent="-285750">
              <a:buFont typeface="Wingdings"/>
              <a:buChar char="Ø"/>
            </a:pPr>
            <a:endParaRPr lang="en-US">
              <a:solidFill>
                <a:srgbClr val="000000"/>
              </a:solidFill>
              <a:latin typeface="Aptos"/>
              <a:ea typeface="Segoe UI"/>
              <a:cs typeface="Segoe UI"/>
            </a:endParaRPr>
          </a:p>
          <a:p>
            <a:pPr marL="285750" indent="-285750">
              <a:buFont typeface="Wingdings"/>
              <a:buChar char="Ø"/>
            </a:pPr>
            <a:r>
              <a:rPr lang="en-US">
                <a:solidFill>
                  <a:srgbClr val="000000"/>
                </a:solidFill>
                <a:latin typeface="Aptos"/>
                <a:cs typeface="Segoe UI"/>
              </a:rPr>
              <a:t>Baseline accuracy = 0.962</a:t>
            </a:r>
            <a:endParaRPr lang="en-US"/>
          </a:p>
          <a:p>
            <a:pPr algn="l" rtl="0"/>
            <a:endParaRPr lang="en-US" sz="1800" b="0" i="0" dirty="0">
              <a:solidFill>
                <a:srgbClr val="000000"/>
              </a:solidFill>
              <a:latin typeface="Aptos"/>
              <a:ea typeface="Segoe UI"/>
              <a:cs typeface="Segoe UI"/>
            </a:endParaRPr>
          </a:p>
          <a:p>
            <a:pPr marL="285750" indent="-285750">
              <a:buFont typeface="Wingdings"/>
              <a:buChar char="Ø"/>
            </a:pPr>
            <a:r>
              <a:rPr lang="en-US">
                <a:solidFill>
                  <a:srgbClr val="000000"/>
                </a:solidFill>
                <a:latin typeface="Aptos"/>
                <a:ea typeface="Segoe UI"/>
                <a:cs typeface="Segoe UI"/>
              </a:rPr>
              <a:t>​Curse of dimensionality: despite having 561 features, data sparsity does not lead to poor predictive accuracy.</a:t>
            </a:r>
            <a:endParaRPr lang="en-US" sz="1800" b="0" i="0" dirty="0">
              <a:solidFill>
                <a:srgbClr val="000000"/>
              </a:solidFill>
              <a:latin typeface="Aptos"/>
              <a:ea typeface="Segoe UI"/>
              <a:cs typeface="Segoe UI"/>
            </a:endParaRPr>
          </a:p>
          <a:p>
            <a:pPr marL="285750" indent="-285750" algn="ctr">
              <a:buFont typeface="Wingdings"/>
              <a:buChar char="Ø"/>
            </a:pPr>
            <a:endParaRPr lang="en-US"/>
          </a:p>
        </p:txBody>
      </p:sp>
    </p:spTree>
    <p:extLst>
      <p:ext uri="{BB962C8B-B14F-4D97-AF65-F5344CB8AC3E}">
        <p14:creationId xmlns:p14="http://schemas.microsoft.com/office/powerpoint/2010/main" val="567908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6DB8-4F67-0A96-C051-8D9359F462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E08685-94B7-5C99-AD9E-BE597F0E97C6}"/>
              </a:ext>
            </a:extLst>
          </p:cNvPr>
          <p:cNvSpPr txBox="1"/>
          <p:nvPr/>
        </p:nvSpPr>
        <p:spPr>
          <a:xfrm>
            <a:off x="542094" y="329859"/>
            <a:ext cx="9164455" cy="104644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C00000"/>
                </a:solidFill>
                <a:latin typeface="Aptos Display"/>
              </a:rPr>
              <a:t>Baseline LDA Performance Metrics</a:t>
            </a:r>
            <a:endParaRPr lang="en-US">
              <a:solidFill>
                <a:srgbClr val="C00000"/>
              </a:solidFill>
            </a:endParaRPr>
          </a:p>
          <a:p>
            <a:pPr algn="ctr"/>
            <a:endParaRPr lang="en-US">
              <a:solidFill>
                <a:srgbClr val="C00000"/>
              </a:solidFill>
            </a:endParaRPr>
          </a:p>
        </p:txBody>
      </p:sp>
      <p:sp>
        <p:nvSpPr>
          <p:cNvPr id="3" name="TextBox 2">
            <a:extLst>
              <a:ext uri="{FF2B5EF4-FFF2-40B4-BE49-F238E27FC236}">
                <a16:creationId xmlns:a16="http://schemas.microsoft.com/office/drawing/2014/main" id="{4F200AB0-ACC1-56D9-46F5-977C08FDC93A}"/>
              </a:ext>
            </a:extLst>
          </p:cNvPr>
          <p:cNvSpPr txBox="1"/>
          <p:nvPr/>
        </p:nvSpPr>
        <p:spPr>
          <a:xfrm>
            <a:off x="6390509" y="1427174"/>
            <a:ext cx="5804660"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solidFill>
                  <a:srgbClr val="000000"/>
                </a:solidFill>
                <a:latin typeface="Aptos"/>
                <a:ea typeface="Segoe UI"/>
                <a:cs typeface="Segoe UI"/>
              </a:rPr>
              <a:t>We see precision of 0.9 or greater for all classes: predicted classes tend to be right. For "LAYING" and "WALKING_DOWNSTAIRS", LDA predicts the right class 100% of the time.</a:t>
            </a:r>
            <a:endParaRPr lang="en-US"/>
          </a:p>
          <a:p>
            <a:pPr algn="l" rtl="0"/>
            <a:endParaRPr lang="en-US" sz="1800" b="0" i="0">
              <a:solidFill>
                <a:srgbClr val="000000"/>
              </a:solidFill>
              <a:latin typeface="Aptos"/>
              <a:ea typeface="Segoe UI"/>
              <a:cs typeface="Segoe UI"/>
            </a:endParaRPr>
          </a:p>
          <a:p>
            <a:pPr marL="285750" indent="-285750">
              <a:buFont typeface="Wingdings"/>
              <a:buChar char="Ø"/>
            </a:pPr>
            <a:r>
              <a:rPr lang="en-US">
                <a:solidFill>
                  <a:srgbClr val="000000"/>
                </a:solidFill>
                <a:latin typeface="Aptos"/>
                <a:ea typeface="Segoe UI"/>
                <a:cs typeface="Segoe UI"/>
              </a:rPr>
              <a:t>Recall is also strong across the board, indicating that the model finds most of the observations belonging to each respective category.</a:t>
            </a:r>
            <a:endParaRPr lang="en-US" dirty="0">
              <a:solidFill>
                <a:srgbClr val="000000"/>
              </a:solidFill>
              <a:latin typeface="Aptos"/>
              <a:ea typeface="Segoe UI"/>
              <a:cs typeface="Segoe UI"/>
            </a:endParaRPr>
          </a:p>
          <a:p>
            <a:pPr marL="285750" indent="-285750">
              <a:buFont typeface="Wingdings"/>
              <a:buChar char="Ø"/>
            </a:pPr>
            <a:endParaRPr lang="en-US">
              <a:solidFill>
                <a:srgbClr val="000000"/>
              </a:solidFill>
              <a:latin typeface="Aptos"/>
              <a:cs typeface="Segoe UI"/>
            </a:endParaRPr>
          </a:p>
          <a:p>
            <a:pPr marL="285750" indent="-285750">
              <a:buFont typeface="Wingdings"/>
              <a:buChar char="Ø"/>
            </a:pPr>
            <a:r>
              <a:rPr lang="en-US" b="1">
                <a:cs typeface="Segoe UI"/>
              </a:rPr>
              <a:t>Goal of PCA: Can we substantially improve efficiency without much loss in quality?</a:t>
            </a:r>
            <a:endParaRPr lang="en-US" b="1"/>
          </a:p>
          <a:p>
            <a:pPr marL="285750" indent="-285750">
              <a:buFont typeface="Wingdings"/>
              <a:buChar char="Ø"/>
            </a:pPr>
            <a:endParaRPr lang="en-US" b="1">
              <a:solidFill>
                <a:srgbClr val="000000"/>
              </a:solidFill>
              <a:latin typeface="Aptos"/>
              <a:ea typeface="Segoe UI"/>
              <a:cs typeface="Segoe UI"/>
            </a:endParaRPr>
          </a:p>
          <a:p>
            <a:pPr algn="l" rtl="0"/>
            <a:r>
              <a:rPr lang="en-US" sz="1800" b="0" i="0">
                <a:solidFill>
                  <a:srgbClr val="000000"/>
                </a:solidFill>
                <a:latin typeface="Aptos"/>
                <a:ea typeface="Segoe UI"/>
                <a:cs typeface="Segoe UI"/>
              </a:rPr>
              <a:t>​</a:t>
            </a:r>
          </a:p>
          <a:p>
            <a:pPr algn="l" rtl="0"/>
            <a:r>
              <a:rPr lang="en-US" sz="1800" b="0" i="0">
                <a:solidFill>
                  <a:srgbClr val="000000"/>
                </a:solidFill>
                <a:latin typeface="Aptos"/>
                <a:ea typeface="Segoe UI"/>
                <a:cs typeface="Segoe UI"/>
              </a:rPr>
              <a:t>​</a:t>
            </a:r>
          </a:p>
          <a:p>
            <a:pPr algn="ctr"/>
            <a:endParaRPr lang="en-US"/>
          </a:p>
        </p:txBody>
      </p:sp>
      <p:sp>
        <p:nvSpPr>
          <p:cNvPr id="7" name="TextBox 6">
            <a:extLst>
              <a:ext uri="{FF2B5EF4-FFF2-40B4-BE49-F238E27FC236}">
                <a16:creationId xmlns:a16="http://schemas.microsoft.com/office/drawing/2014/main" id="{9AE1D629-6B2D-51F8-050E-310A2DF5AC3C}"/>
              </a:ext>
            </a:extLst>
          </p:cNvPr>
          <p:cNvSpPr txBox="1"/>
          <p:nvPr/>
        </p:nvSpPr>
        <p:spPr>
          <a:xfrm>
            <a:off x="544145" y="4738515"/>
            <a:ext cx="11299855"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t>Applications: Allowing smartphone fitness apps to process sensor data more efficiently by reducing the number of features while retaining most of the predictive power. This carries the potential to save battery life while lowering application processing cost and latency.</a:t>
            </a:r>
          </a:p>
        </p:txBody>
      </p:sp>
      <p:pic>
        <p:nvPicPr>
          <p:cNvPr id="5" name="Picture 4" descr="A screenshot of a graph&#10;&#10;AI-generated content may be incorrect.">
            <a:extLst>
              <a:ext uri="{FF2B5EF4-FFF2-40B4-BE49-F238E27FC236}">
                <a16:creationId xmlns:a16="http://schemas.microsoft.com/office/drawing/2014/main" id="{92FB7680-2854-83D5-B3AB-2741AC31260D}"/>
              </a:ext>
            </a:extLst>
          </p:cNvPr>
          <p:cNvPicPr>
            <a:picLocks noChangeAspect="1"/>
          </p:cNvPicPr>
          <p:nvPr/>
        </p:nvPicPr>
        <p:blipFill>
          <a:blip r:embed="rId2"/>
          <a:stretch>
            <a:fillRect/>
          </a:stretch>
        </p:blipFill>
        <p:spPr>
          <a:xfrm>
            <a:off x="648196" y="1374742"/>
            <a:ext cx="5553755" cy="3157980"/>
          </a:xfrm>
          <a:prstGeom prst="rect">
            <a:avLst/>
          </a:prstGeom>
        </p:spPr>
      </p:pic>
    </p:spTree>
    <p:extLst>
      <p:ext uri="{BB962C8B-B14F-4D97-AF65-F5344CB8AC3E}">
        <p14:creationId xmlns:p14="http://schemas.microsoft.com/office/powerpoint/2010/main" val="4108605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7D471A-5210-548B-A922-47C53B949D5E}"/>
              </a:ext>
            </a:extLst>
          </p:cNvPr>
          <p:cNvSpPr txBox="1"/>
          <p:nvPr/>
        </p:nvSpPr>
        <p:spPr>
          <a:xfrm>
            <a:off x="612000" y="393000"/>
            <a:ext cx="757200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400">
                <a:solidFill>
                  <a:srgbClr val="C00000"/>
                </a:solidFill>
                <a:latin typeface="Aptos Display"/>
                <a:cs typeface="Segoe UI"/>
              </a:rPr>
              <a:t>Introduction to PCA</a:t>
            </a:r>
          </a:p>
          <a:p>
            <a:endParaRPr lang="en-US" sz="4400">
              <a:latin typeface="Aptos Display"/>
              <a:cs typeface="Segoe UI"/>
            </a:endParaRPr>
          </a:p>
        </p:txBody>
      </p:sp>
      <p:sp>
        <p:nvSpPr>
          <p:cNvPr id="4" name="Content Placeholder 2">
            <a:extLst>
              <a:ext uri="{FF2B5EF4-FFF2-40B4-BE49-F238E27FC236}">
                <a16:creationId xmlns:a16="http://schemas.microsoft.com/office/drawing/2014/main" id="{3E846CAF-CE6D-89CF-32E4-4A28A634DD86}"/>
              </a:ext>
            </a:extLst>
          </p:cNvPr>
          <p:cNvSpPr txBox="1">
            <a:spLocks/>
          </p:cNvSpPr>
          <p:nvPr/>
        </p:nvSpPr>
        <p:spPr>
          <a:xfrm>
            <a:off x="838200" y="1483625"/>
            <a:ext cx="10515600" cy="4807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20B0604020202020204" pitchFamily="34" charset="0"/>
              <a:buChar char="Ø"/>
            </a:pPr>
            <a:r>
              <a:rPr lang="en-US"/>
              <a:t>Find the covariance matrix of the standardized data.</a:t>
            </a:r>
          </a:p>
          <a:p>
            <a:pPr>
              <a:buFont typeface="Wingdings" panose="020B0604020202020204" pitchFamily="34" charset="0"/>
              <a:buChar char="Ø"/>
            </a:pPr>
            <a:r>
              <a:rPr lang="en-US"/>
              <a:t>Compute eigenvalue, eigenvector pairs of the covariance matrix.</a:t>
            </a:r>
          </a:p>
          <a:p>
            <a:pPr>
              <a:buFont typeface="Wingdings" panose="020B0604020202020204" pitchFamily="34" charset="0"/>
              <a:buChar char="Ø"/>
            </a:pPr>
            <a:r>
              <a:rPr lang="en-US"/>
              <a:t>Sort eigenvalue, eigenvector pairs                in descending order by eigenvalue.</a:t>
            </a:r>
          </a:p>
          <a:p>
            <a:pPr>
              <a:buFont typeface="Wingdings" panose="020B0604020202020204" pitchFamily="34" charset="0"/>
              <a:buChar char="Ø"/>
            </a:pPr>
            <a:r>
              <a:rPr lang="en-US"/>
              <a:t>Choose the first n components that preserve the desired proportion of variance explained.</a:t>
            </a:r>
          </a:p>
          <a:p>
            <a:pPr>
              <a:buFont typeface="Wingdings" panose="020B0604020202020204" pitchFamily="34" charset="0"/>
              <a:buChar char="Ø"/>
            </a:pPr>
            <a:r>
              <a:rPr lang="en-US"/>
              <a:t>Transform the data by projecting it onto the selected eigenvectors using linear combinations.</a:t>
            </a:r>
          </a:p>
        </p:txBody>
      </p:sp>
      <p:pic>
        <p:nvPicPr>
          <p:cNvPr id="5" name="Picture 4" descr="A close up of a text&#10;&#10;AI-generated content may be incorrect.">
            <a:extLst>
              <a:ext uri="{FF2B5EF4-FFF2-40B4-BE49-F238E27FC236}">
                <a16:creationId xmlns:a16="http://schemas.microsoft.com/office/drawing/2014/main" id="{22784647-9489-67E1-F9F7-87F78AD54DC8}"/>
              </a:ext>
            </a:extLst>
          </p:cNvPr>
          <p:cNvPicPr>
            <a:picLocks noChangeAspect="1"/>
          </p:cNvPicPr>
          <p:nvPr/>
        </p:nvPicPr>
        <p:blipFill>
          <a:blip r:embed="rId2"/>
          <a:srcRect l="19847" t="23372" r="17557" b="28736"/>
          <a:stretch>
            <a:fillRect/>
          </a:stretch>
        </p:blipFill>
        <p:spPr>
          <a:xfrm>
            <a:off x="6418500" y="2496000"/>
            <a:ext cx="1006125" cy="510002"/>
          </a:xfrm>
          <a:prstGeom prst="rect">
            <a:avLst/>
          </a:prstGeom>
        </p:spPr>
      </p:pic>
    </p:spTree>
    <p:extLst>
      <p:ext uri="{BB962C8B-B14F-4D97-AF65-F5344CB8AC3E}">
        <p14:creationId xmlns:p14="http://schemas.microsoft.com/office/powerpoint/2010/main" val="2928002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AC374-7D29-AB58-67AC-69D5F01678BA}"/>
              </a:ext>
            </a:extLst>
          </p:cNvPr>
          <p:cNvSpPr>
            <a:spLocks noGrp="1"/>
          </p:cNvSpPr>
          <p:nvPr>
            <p:ph type="title"/>
          </p:nvPr>
        </p:nvSpPr>
        <p:spPr/>
        <p:txBody>
          <a:bodyPr/>
          <a:lstStyle/>
          <a:p>
            <a:r>
              <a:rPr lang="en-US">
                <a:solidFill>
                  <a:srgbClr val="C00000"/>
                </a:solidFill>
              </a:rPr>
              <a:t>Performing PCA Efficiently</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3FAC661-7E02-EC73-85B0-E13B4B4D81D9}"/>
                  </a:ext>
                </a:extLst>
              </p:cNvPr>
              <p:cNvSpPr txBox="1"/>
              <p:nvPr/>
            </p:nvSpPr>
            <p:spPr>
              <a:xfrm>
                <a:off x="4332549" y="2230774"/>
                <a:ext cx="3698612" cy="2529090"/>
              </a:xfrm>
              <a:prstGeom prst="rect">
                <a:avLst/>
              </a:prstGeom>
              <a:noFill/>
            </p:spPr>
            <p:txBody>
              <a:bodyPr wrap="square" rtlCol="0">
                <a:spAutoFit/>
              </a:bodyPr>
              <a:lstStyle/>
              <a:p>
                <a:pPr algn="ctr"/>
                <a:r>
                  <a:rPr lang="en-US" sz="2000" b="1"/>
                  <a:t>Singular Value Decomposition</a:t>
                </a:r>
              </a:p>
              <a:p>
                <a:endParaRPr lang="en-US" sz="1000"/>
              </a:p>
              <a:p>
                <a:r>
                  <a:rPr lang="en-US" sz="2000"/>
                  <a:t>Calculate </a:t>
                </a:r>
                <a14:m>
                  <m:oMath xmlns:m="http://schemas.openxmlformats.org/officeDocument/2006/math">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i="1">
                        <a:latin typeface="Cambria Math" panose="02040503050406030204" pitchFamily="18" charset="0"/>
                      </a:rPr>
                      <m:t>𝑈</m:t>
                    </m:r>
                    <m:r>
                      <a:rPr lang="en-US" sz="2000" b="0" i="1" smtClean="0">
                        <a:latin typeface="Cambria Math" panose="02040503050406030204" pitchFamily="18" charset="0"/>
                      </a:rPr>
                      <m:t>𝐷</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𝑉</m:t>
                        </m:r>
                      </m:e>
                      <m:sup>
                        <m:r>
                          <a:rPr lang="en-US" sz="2000" b="0" i="1" smtClean="0">
                            <a:latin typeface="Cambria Math" panose="02040503050406030204" pitchFamily="18" charset="0"/>
                          </a:rPr>
                          <m:t>𝑇</m:t>
                        </m:r>
                      </m:sup>
                    </m:sSup>
                  </m:oMath>
                </a14:m>
                <a:endParaRPr lang="en-US" sz="2000"/>
              </a:p>
              <a:p>
                <a:endParaRPr lang="en-US" sz="1000"/>
              </a:p>
              <a:p>
                <a:r>
                  <a:rPr lang="en-US" sz="2000"/>
                  <a:t>Principal Components = </a:t>
                </a:r>
                <a14:m>
                  <m:oMath xmlns:m="http://schemas.openxmlformats.org/officeDocument/2006/math">
                    <m:r>
                      <a:rPr lang="en-US" sz="2000" i="1">
                        <a:latin typeface="Cambria Math" panose="02040503050406030204" pitchFamily="18" charset="0"/>
                      </a:rPr>
                      <m:t>𝑈𝐷</m:t>
                    </m:r>
                  </m:oMath>
                </a14:m>
                <a:endParaRPr lang="en-US" sz="2000"/>
              </a:p>
              <a:p>
                <a:r>
                  <a:rPr lang="en-US" sz="2000"/>
                  <a:t>Variances = diagonals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𝑛</m:t>
                        </m:r>
                        <m:r>
                          <a:rPr lang="en-US" sz="2000" i="1">
                            <a:latin typeface="Cambria Math" panose="02040503050406030204" pitchFamily="18" charset="0"/>
                          </a:rPr>
                          <m:t>−1</m:t>
                        </m:r>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𝐷</m:t>
                        </m:r>
                      </m:e>
                      <m:sup>
                        <m:r>
                          <a:rPr lang="en-US" sz="2000" b="0" i="1" smtClean="0">
                            <a:latin typeface="Cambria Math" panose="02040503050406030204" pitchFamily="18" charset="0"/>
                          </a:rPr>
                          <m:t>2</m:t>
                        </m:r>
                      </m:sup>
                    </m:sSup>
                  </m:oMath>
                </a14:m>
                <a:endParaRPr lang="en-US" sz="2000"/>
              </a:p>
              <a:p>
                <a:endParaRPr lang="en-US" sz="1000"/>
              </a:p>
              <a:p>
                <a:r>
                  <a:rPr lang="en-US" sz="2000"/>
                  <a:t>More efficient on wide datasets</a:t>
                </a:r>
              </a:p>
              <a:p>
                <a:endParaRPr lang="en-US" sz="2000"/>
              </a:p>
            </p:txBody>
          </p:sp>
        </mc:Choice>
        <mc:Fallback xmlns="">
          <p:sp>
            <p:nvSpPr>
              <p:cNvPr id="9" name="TextBox 8">
                <a:extLst>
                  <a:ext uri="{FF2B5EF4-FFF2-40B4-BE49-F238E27FC236}">
                    <a16:creationId xmlns:a16="http://schemas.microsoft.com/office/drawing/2014/main" id="{E3FAC661-7E02-EC73-85B0-E13B4B4D81D9}"/>
                  </a:ext>
                </a:extLst>
              </p:cNvPr>
              <p:cNvSpPr txBox="1">
                <a:spLocks noRot="1" noChangeAspect="1" noMove="1" noResize="1" noEditPoints="1" noAdjustHandles="1" noChangeArrowheads="1" noChangeShapeType="1" noTextEdit="1"/>
              </p:cNvSpPr>
              <p:nvPr/>
            </p:nvSpPr>
            <p:spPr>
              <a:xfrm>
                <a:off x="4332549" y="2230774"/>
                <a:ext cx="3698612" cy="2529090"/>
              </a:xfrm>
              <a:prstGeom prst="rect">
                <a:avLst/>
              </a:prstGeom>
              <a:blipFill>
                <a:blip r:embed="rId2"/>
                <a:stretch>
                  <a:fillRect l="-1815" t="-14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CA81820-E543-E558-737D-65B43C515F09}"/>
                  </a:ext>
                </a:extLst>
              </p:cNvPr>
              <p:cNvSpPr txBox="1"/>
              <p:nvPr/>
            </p:nvSpPr>
            <p:spPr>
              <a:xfrm>
                <a:off x="574794" y="2233949"/>
                <a:ext cx="3639892" cy="2836867"/>
              </a:xfrm>
              <a:prstGeom prst="rect">
                <a:avLst/>
              </a:prstGeom>
              <a:noFill/>
            </p:spPr>
            <p:txBody>
              <a:bodyPr wrap="square" rtlCol="0">
                <a:spAutoFit/>
              </a:bodyPr>
              <a:lstStyle/>
              <a:p>
                <a:pPr algn="ctr"/>
                <a:r>
                  <a:rPr lang="en-US" sz="2000" b="1"/>
                  <a:t>Covariance Matrix</a:t>
                </a:r>
              </a:p>
              <a:p>
                <a:endParaRPr lang="en-US" sz="1000"/>
              </a:p>
              <a:p>
                <a:r>
                  <a:rPr lang="en-US" sz="2000"/>
                  <a:t>Calculate </a:t>
                </a:r>
                <a14:m>
                  <m:oMath xmlns:m="http://schemas.openxmlformats.org/officeDocument/2006/math">
                    <m:r>
                      <a:rPr lang="en-US" sz="2000" b="0" i="1" smtClean="0">
                        <a:latin typeface="Cambria Math" panose="02040503050406030204" pitchFamily="18" charset="0"/>
                      </a:rPr>
                      <m:t>𝑆</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i="1" smtClean="0">
                            <a:latin typeface="Cambria Math" panose="02040503050406030204" pitchFamily="18" charset="0"/>
                          </a:rPr>
                          <m:t>1</m:t>
                        </m:r>
                      </m:num>
                      <m:den>
                        <m:r>
                          <a:rPr lang="en-US" sz="2000" b="0" i="1" smtClean="0">
                            <a:latin typeface="Cambria Math" panose="02040503050406030204" pitchFamily="18" charset="0"/>
                          </a:rPr>
                          <m:t>𝑛</m:t>
                        </m:r>
                        <m:r>
                          <a:rPr lang="en-US" sz="2000" b="0" i="1" smtClean="0">
                            <a:latin typeface="Cambria Math" panose="02040503050406030204" pitchFamily="18" charset="0"/>
                          </a:rPr>
                          <m:t>−1</m:t>
                        </m:r>
                      </m:den>
                    </m:f>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𝑌</m:t>
                        </m:r>
                      </m:e>
                      <m:sup>
                        <m:r>
                          <a:rPr lang="en-US" sz="2000" b="0" i="1" smtClean="0">
                            <a:latin typeface="Cambria Math" panose="02040503050406030204" pitchFamily="18" charset="0"/>
                          </a:rPr>
                          <m:t>𝑇</m:t>
                        </m:r>
                      </m:sup>
                    </m:sSup>
                    <m:r>
                      <a:rPr lang="en-US" sz="2000" b="0" i="1" smtClean="0">
                        <a:latin typeface="Cambria Math" panose="02040503050406030204" pitchFamily="18" charset="0"/>
                      </a:rPr>
                      <m:t>𝑌</m:t>
                    </m:r>
                  </m:oMath>
                </a14:m>
                <a:endParaRPr lang="en-US" sz="2000"/>
              </a:p>
              <a:p>
                <a:r>
                  <a:rPr lang="en-US" sz="2000" b="0"/>
                  <a:t>Calculate </a:t>
                </a:r>
                <a14:m>
                  <m:oMath xmlns:m="http://schemas.openxmlformats.org/officeDocument/2006/math">
                    <m:r>
                      <a:rPr lang="en-US" sz="2000" b="0" i="1" dirty="0" smtClean="0">
                        <a:latin typeface="Cambria Math" panose="02040503050406030204" pitchFamily="18" charset="0"/>
                      </a:rPr>
                      <m:t>𝑉</m:t>
                    </m:r>
                    <m:r>
                      <a:rPr lang="en-US" sz="2000" b="0" i="1" dirty="0" smtClean="0">
                        <a:latin typeface="Cambria Math" panose="02040503050406030204" pitchFamily="18" charset="0"/>
                      </a:rPr>
                      <m:t>=</m:t>
                    </m:r>
                  </m:oMath>
                </a14:m>
                <a:r>
                  <a:rPr lang="en-US" sz="2000"/>
                  <a:t> eigenvectors of </a:t>
                </a:r>
                <a14:m>
                  <m:oMath xmlns:m="http://schemas.openxmlformats.org/officeDocument/2006/math">
                    <m:r>
                      <a:rPr lang="en-US" sz="2000" i="1">
                        <a:latin typeface="Cambria Math" panose="02040503050406030204" pitchFamily="18" charset="0"/>
                      </a:rPr>
                      <m:t>𝑆</m:t>
                    </m:r>
                  </m:oMath>
                </a14:m>
                <a:endParaRPr lang="en-US" sz="2000"/>
              </a:p>
              <a:p>
                <a:endParaRPr lang="en-US" sz="1000"/>
              </a:p>
              <a:p>
                <a:r>
                  <a:rPr lang="en-US" sz="2000"/>
                  <a:t>Principal Components = </a:t>
                </a:r>
                <a14:m>
                  <m:oMath xmlns:m="http://schemas.openxmlformats.org/officeDocument/2006/math">
                    <m:r>
                      <a:rPr lang="en-US" sz="2000" i="1" dirty="0">
                        <a:latin typeface="Cambria Math" panose="02040503050406030204" pitchFamily="18" charset="0"/>
                      </a:rPr>
                      <m:t>𝑉</m:t>
                    </m:r>
                    <m:r>
                      <a:rPr lang="en-US" sz="2000" b="0" i="1" dirty="0" smtClean="0">
                        <a:latin typeface="Cambria Math" panose="02040503050406030204" pitchFamily="18" charset="0"/>
                      </a:rPr>
                      <m:t>𝑌</m:t>
                    </m:r>
                  </m:oMath>
                </a14:m>
                <a:endParaRPr lang="en-US" sz="2000"/>
              </a:p>
              <a:p>
                <a:r>
                  <a:rPr lang="en-US" sz="2000"/>
                  <a:t>Variances = eigenvectors of </a:t>
                </a:r>
                <a14:m>
                  <m:oMath xmlns:m="http://schemas.openxmlformats.org/officeDocument/2006/math">
                    <m:r>
                      <a:rPr lang="en-US" sz="2000" i="1">
                        <a:latin typeface="Cambria Math" panose="02040503050406030204" pitchFamily="18" charset="0"/>
                      </a:rPr>
                      <m:t>𝑆</m:t>
                    </m:r>
                  </m:oMath>
                </a14:m>
                <a:endParaRPr lang="en-US" sz="2000"/>
              </a:p>
              <a:p>
                <a:endParaRPr lang="en-US" sz="1000"/>
              </a:p>
              <a:p>
                <a:r>
                  <a:rPr lang="en-US" sz="2000"/>
                  <a:t>More efficient on this dataset</a:t>
                </a:r>
              </a:p>
              <a:p>
                <a:endParaRPr lang="en-US" sz="2000"/>
              </a:p>
            </p:txBody>
          </p:sp>
        </mc:Choice>
        <mc:Fallback xmlns="">
          <p:sp>
            <p:nvSpPr>
              <p:cNvPr id="10" name="TextBox 9">
                <a:extLst>
                  <a:ext uri="{FF2B5EF4-FFF2-40B4-BE49-F238E27FC236}">
                    <a16:creationId xmlns:a16="http://schemas.microsoft.com/office/drawing/2014/main" id="{2CA81820-E543-E558-737D-65B43C515F09}"/>
                  </a:ext>
                </a:extLst>
              </p:cNvPr>
              <p:cNvSpPr txBox="1">
                <a:spLocks noRot="1" noChangeAspect="1" noMove="1" noResize="1" noEditPoints="1" noAdjustHandles="1" noChangeArrowheads="1" noChangeShapeType="1" noTextEdit="1"/>
              </p:cNvSpPr>
              <p:nvPr/>
            </p:nvSpPr>
            <p:spPr>
              <a:xfrm>
                <a:off x="574794" y="2233949"/>
                <a:ext cx="3639892" cy="2836867"/>
              </a:xfrm>
              <a:prstGeom prst="rect">
                <a:avLst/>
              </a:prstGeom>
              <a:blipFill>
                <a:blip r:embed="rId3"/>
                <a:stretch>
                  <a:fillRect l="-1675" t="-1073"/>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30AE242E-DD0C-3B0B-B75C-38974EBFBC9A}"/>
              </a:ext>
            </a:extLst>
          </p:cNvPr>
          <p:cNvSpPr txBox="1"/>
          <p:nvPr/>
        </p:nvSpPr>
        <p:spPr>
          <a:xfrm>
            <a:off x="8149024" y="2230175"/>
            <a:ext cx="3639892" cy="2092881"/>
          </a:xfrm>
          <a:prstGeom prst="rect">
            <a:avLst/>
          </a:prstGeom>
          <a:noFill/>
        </p:spPr>
        <p:txBody>
          <a:bodyPr wrap="square" rtlCol="0">
            <a:spAutoFit/>
          </a:bodyPr>
          <a:lstStyle/>
          <a:p>
            <a:pPr algn="ctr"/>
            <a:r>
              <a:rPr lang="en-US" sz="2000" b="1"/>
              <a:t>Built-In Package</a:t>
            </a:r>
          </a:p>
          <a:p>
            <a:endParaRPr lang="en-US" sz="1000"/>
          </a:p>
          <a:p>
            <a:r>
              <a:rPr lang="en-US" sz="2000"/>
              <a:t>Use </a:t>
            </a:r>
            <a:r>
              <a:rPr lang="en-US" sz="2000">
                <a:latin typeface="Consolas" panose="020B0609020204030204" pitchFamily="49" charset="0"/>
              </a:rPr>
              <a:t>PCA()</a:t>
            </a:r>
            <a:r>
              <a:rPr lang="en-US" sz="2000"/>
              <a:t> from </a:t>
            </a:r>
            <a:r>
              <a:rPr lang="en-US" sz="2000" err="1">
                <a:latin typeface="Consolas" panose="020B0609020204030204" pitchFamily="49" charset="0"/>
              </a:rPr>
              <a:t>FactoMineR</a:t>
            </a:r>
            <a:endParaRPr lang="en-US" sz="2000"/>
          </a:p>
          <a:p>
            <a:endParaRPr lang="en-US" sz="2000"/>
          </a:p>
          <a:p>
            <a:r>
              <a:rPr lang="en-US" sz="2000"/>
              <a:t>Computes additional results useful for analysis and building models</a:t>
            </a:r>
          </a:p>
        </p:txBody>
      </p:sp>
      <p:sp>
        <p:nvSpPr>
          <p:cNvPr id="4" name="TextBox 3">
            <a:extLst>
              <a:ext uri="{FF2B5EF4-FFF2-40B4-BE49-F238E27FC236}">
                <a16:creationId xmlns:a16="http://schemas.microsoft.com/office/drawing/2014/main" id="{4CBF52A2-72CB-15A6-BF95-65CFC5FECD9B}"/>
              </a:ext>
            </a:extLst>
          </p:cNvPr>
          <p:cNvSpPr txBox="1"/>
          <p:nvPr/>
        </p:nvSpPr>
        <p:spPr>
          <a:xfrm>
            <a:off x="545434" y="4801707"/>
            <a:ext cx="3698612" cy="553998"/>
          </a:xfrm>
          <a:prstGeom prst="rect">
            <a:avLst/>
          </a:prstGeom>
          <a:noFill/>
        </p:spPr>
        <p:txBody>
          <a:bodyPr wrap="square" rtlCol="0">
            <a:spAutoFit/>
          </a:bodyPr>
          <a:lstStyle/>
          <a:p>
            <a:pPr algn="ctr"/>
            <a:r>
              <a:rPr lang="en-US" sz="2000" b="1"/>
              <a:t>Time To Compute: </a:t>
            </a:r>
            <a:r>
              <a:rPr lang="en-US" sz="2000"/>
              <a:t>~2.5s</a:t>
            </a:r>
          </a:p>
          <a:p>
            <a:endParaRPr lang="en-US" sz="1000"/>
          </a:p>
        </p:txBody>
      </p:sp>
      <p:sp>
        <p:nvSpPr>
          <p:cNvPr id="5" name="TextBox 4">
            <a:extLst>
              <a:ext uri="{FF2B5EF4-FFF2-40B4-BE49-F238E27FC236}">
                <a16:creationId xmlns:a16="http://schemas.microsoft.com/office/drawing/2014/main" id="{4AB317A7-14DD-C2DB-0688-B73480F0F41F}"/>
              </a:ext>
            </a:extLst>
          </p:cNvPr>
          <p:cNvSpPr txBox="1"/>
          <p:nvPr/>
        </p:nvSpPr>
        <p:spPr>
          <a:xfrm>
            <a:off x="4288297" y="4801707"/>
            <a:ext cx="3698612" cy="553998"/>
          </a:xfrm>
          <a:prstGeom prst="rect">
            <a:avLst/>
          </a:prstGeom>
          <a:noFill/>
        </p:spPr>
        <p:txBody>
          <a:bodyPr wrap="square" rtlCol="0">
            <a:spAutoFit/>
          </a:bodyPr>
          <a:lstStyle/>
          <a:p>
            <a:pPr algn="ctr"/>
            <a:r>
              <a:rPr lang="en-US" sz="2000" b="1"/>
              <a:t>Time To Compute: </a:t>
            </a:r>
            <a:r>
              <a:rPr lang="en-US" sz="2000"/>
              <a:t>~5s</a:t>
            </a:r>
          </a:p>
          <a:p>
            <a:endParaRPr lang="en-US" sz="1000"/>
          </a:p>
        </p:txBody>
      </p:sp>
      <p:sp>
        <p:nvSpPr>
          <p:cNvPr id="6" name="TextBox 5">
            <a:extLst>
              <a:ext uri="{FF2B5EF4-FFF2-40B4-BE49-F238E27FC236}">
                <a16:creationId xmlns:a16="http://schemas.microsoft.com/office/drawing/2014/main" id="{CBC4A0CF-C2EF-2303-2D2C-9591E5B1C94F}"/>
              </a:ext>
            </a:extLst>
          </p:cNvPr>
          <p:cNvSpPr txBox="1"/>
          <p:nvPr/>
        </p:nvSpPr>
        <p:spPr>
          <a:xfrm>
            <a:off x="8119664" y="4801707"/>
            <a:ext cx="3698612" cy="553998"/>
          </a:xfrm>
          <a:prstGeom prst="rect">
            <a:avLst/>
          </a:prstGeom>
          <a:noFill/>
        </p:spPr>
        <p:txBody>
          <a:bodyPr wrap="square" rtlCol="0">
            <a:spAutoFit/>
          </a:bodyPr>
          <a:lstStyle/>
          <a:p>
            <a:pPr algn="ctr"/>
            <a:r>
              <a:rPr lang="en-US" sz="2000" b="1"/>
              <a:t>Time To Compute: </a:t>
            </a:r>
            <a:r>
              <a:rPr lang="en-US" sz="2000"/>
              <a:t>~5s</a:t>
            </a:r>
          </a:p>
          <a:p>
            <a:endParaRPr lang="en-US" sz="1000"/>
          </a:p>
        </p:txBody>
      </p:sp>
    </p:spTree>
    <p:extLst>
      <p:ext uri="{BB962C8B-B14F-4D97-AF65-F5344CB8AC3E}">
        <p14:creationId xmlns:p14="http://schemas.microsoft.com/office/powerpoint/2010/main" val="9013402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FA1FC-E3AF-73BD-F355-2013CB0ED771}"/>
              </a:ext>
            </a:extLst>
          </p:cNvPr>
          <p:cNvSpPr>
            <a:spLocks noGrp="1"/>
          </p:cNvSpPr>
          <p:nvPr>
            <p:ph type="title"/>
          </p:nvPr>
        </p:nvSpPr>
        <p:spPr/>
        <p:txBody>
          <a:bodyPr/>
          <a:lstStyle/>
          <a:p>
            <a:r>
              <a:rPr lang="en-US">
                <a:solidFill>
                  <a:srgbClr val="C00000"/>
                </a:solidFill>
              </a:rPr>
              <a:t>Cumulative Variance</a:t>
            </a:r>
          </a:p>
        </p:txBody>
      </p:sp>
      <p:pic>
        <p:nvPicPr>
          <p:cNvPr id="5" name="Picture 4">
            <a:extLst>
              <a:ext uri="{FF2B5EF4-FFF2-40B4-BE49-F238E27FC236}">
                <a16:creationId xmlns:a16="http://schemas.microsoft.com/office/drawing/2014/main" id="{C28B7177-4711-5FB3-F927-EBB5DF1BB0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1393" y="1691840"/>
            <a:ext cx="5841135" cy="4087857"/>
          </a:xfrm>
          <a:prstGeom prst="rect">
            <a:avLst/>
          </a:prstGeom>
        </p:spPr>
      </p:pic>
      <p:graphicFrame>
        <p:nvGraphicFramePr>
          <p:cNvPr id="8" name="Table 7">
            <a:extLst>
              <a:ext uri="{FF2B5EF4-FFF2-40B4-BE49-F238E27FC236}">
                <a16:creationId xmlns:a16="http://schemas.microsoft.com/office/drawing/2014/main" id="{1AF95DA5-FB12-19A9-1B67-96450D79A18E}"/>
              </a:ext>
            </a:extLst>
          </p:cNvPr>
          <p:cNvGraphicFramePr>
            <a:graphicFrameLocks noGrp="1"/>
          </p:cNvGraphicFramePr>
          <p:nvPr>
            <p:extLst>
              <p:ext uri="{D42A27DB-BD31-4B8C-83A1-F6EECF244321}">
                <p14:modId xmlns:p14="http://schemas.microsoft.com/office/powerpoint/2010/main" val="187548115"/>
              </p:ext>
            </p:extLst>
          </p:nvPr>
        </p:nvGraphicFramePr>
        <p:xfrm>
          <a:off x="6921634" y="3179939"/>
          <a:ext cx="4766482" cy="3200400"/>
        </p:xfrm>
        <a:graphic>
          <a:graphicData uri="http://schemas.openxmlformats.org/drawingml/2006/table">
            <a:tbl>
              <a:tblPr/>
              <a:tblGrid>
                <a:gridCol w="2383241">
                  <a:extLst>
                    <a:ext uri="{9D8B030D-6E8A-4147-A177-3AD203B41FA5}">
                      <a16:colId xmlns:a16="http://schemas.microsoft.com/office/drawing/2014/main" val="2692810841"/>
                    </a:ext>
                  </a:extLst>
                </a:gridCol>
                <a:gridCol w="2383241">
                  <a:extLst>
                    <a:ext uri="{9D8B030D-6E8A-4147-A177-3AD203B41FA5}">
                      <a16:colId xmlns:a16="http://schemas.microsoft.com/office/drawing/2014/main" val="3369593368"/>
                    </a:ext>
                  </a:extLst>
                </a:gridCol>
              </a:tblGrid>
              <a:tr h="569660">
                <a:tc>
                  <a:txBody>
                    <a:bodyPr/>
                    <a:lstStyle/>
                    <a:p>
                      <a:pPr algn="ctr"/>
                      <a:r>
                        <a:rPr lang="en-US" b="1"/>
                        <a:t>Cumulative Variance Explained (%)</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 of Principal Components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625814631"/>
                  </a:ext>
                </a:extLst>
              </a:tr>
              <a:tr h="325520">
                <a:tc>
                  <a:txBody>
                    <a:bodyPr/>
                    <a:lstStyle/>
                    <a:p>
                      <a:r>
                        <a:rPr lang="en-US"/>
                        <a:t>50.78%</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889010"/>
                  </a:ext>
                </a:extLst>
              </a:tr>
              <a:tr h="325520">
                <a:tc>
                  <a:txBody>
                    <a:bodyPr/>
                    <a:lstStyle/>
                    <a:p>
                      <a:r>
                        <a:rPr lang="en-US"/>
                        <a:t>64.56%</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2615396"/>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70.82%</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3309641"/>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77.37%</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9668453"/>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87.52%</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5068200"/>
                  </a:ext>
                </a:extLst>
              </a:tr>
              <a:tr h="334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94.89%</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203405"/>
                  </a:ext>
                </a:extLst>
              </a:tr>
              <a:tr h="2565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99.36%</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7896624"/>
                  </a:ext>
                </a:extLst>
              </a:tr>
            </a:tbl>
          </a:graphicData>
        </a:graphic>
      </p:graphicFrame>
      <p:graphicFrame>
        <p:nvGraphicFramePr>
          <p:cNvPr id="11" name="Table 10">
            <a:extLst>
              <a:ext uri="{FF2B5EF4-FFF2-40B4-BE49-F238E27FC236}">
                <a16:creationId xmlns:a16="http://schemas.microsoft.com/office/drawing/2014/main" id="{39AB505E-E77D-CA1A-626A-C907FCD935C0}"/>
              </a:ext>
            </a:extLst>
          </p:cNvPr>
          <p:cNvGraphicFramePr>
            <a:graphicFrameLocks noGrp="1"/>
          </p:cNvGraphicFramePr>
          <p:nvPr>
            <p:extLst>
              <p:ext uri="{D42A27DB-BD31-4B8C-83A1-F6EECF244321}">
                <p14:modId xmlns:p14="http://schemas.microsoft.com/office/powerpoint/2010/main" val="3608036970"/>
              </p:ext>
            </p:extLst>
          </p:nvPr>
        </p:nvGraphicFramePr>
        <p:xfrm>
          <a:off x="6921634" y="477661"/>
          <a:ext cx="4766482" cy="2468880"/>
        </p:xfrm>
        <a:graphic>
          <a:graphicData uri="http://schemas.openxmlformats.org/drawingml/2006/table">
            <a:tbl>
              <a:tblPr/>
              <a:tblGrid>
                <a:gridCol w="2383241">
                  <a:extLst>
                    <a:ext uri="{9D8B030D-6E8A-4147-A177-3AD203B41FA5}">
                      <a16:colId xmlns:a16="http://schemas.microsoft.com/office/drawing/2014/main" val="1017367275"/>
                    </a:ext>
                  </a:extLst>
                </a:gridCol>
                <a:gridCol w="2383241">
                  <a:extLst>
                    <a:ext uri="{9D8B030D-6E8A-4147-A177-3AD203B41FA5}">
                      <a16:colId xmlns:a16="http://schemas.microsoft.com/office/drawing/2014/main" val="3166645513"/>
                    </a:ext>
                  </a:extLst>
                </a:gridCol>
              </a:tblGrid>
              <a:tr h="569660">
                <a:tc>
                  <a:txBody>
                    <a:bodyPr/>
                    <a:lstStyle/>
                    <a:p>
                      <a:pPr algn="ctr"/>
                      <a:r>
                        <a:rPr lang="en-US" b="1"/>
                        <a:t>Cumulative Variance Explained (%)</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 of Principal Components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20725236"/>
                  </a:ext>
                </a:extLst>
              </a:tr>
              <a:tr h="325520">
                <a:tc>
                  <a:txBody>
                    <a:bodyPr/>
                    <a:lstStyle/>
                    <a:p>
                      <a:r>
                        <a:rPr lang="en-US"/>
                        <a:t>80%</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446333"/>
                  </a:ext>
                </a:extLst>
              </a:tr>
              <a:tr h="334545">
                <a:tc>
                  <a:txBody>
                    <a:bodyPr/>
                    <a:lstStyle/>
                    <a:p>
                      <a:r>
                        <a:rPr lang="en-US"/>
                        <a:t>90%</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63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32910"/>
                  </a:ext>
                </a:extLst>
              </a:tr>
              <a:tr h="325520">
                <a:tc>
                  <a:txBody>
                    <a:bodyPr/>
                    <a:lstStyle/>
                    <a:p>
                      <a:r>
                        <a:rPr lang="en-US"/>
                        <a:t>95%</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102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43672"/>
                  </a:ext>
                </a:extLst>
              </a:tr>
              <a:tr h="325520">
                <a:tc>
                  <a:txBody>
                    <a:bodyPr/>
                    <a:lstStyle/>
                    <a:p>
                      <a:r>
                        <a:rPr lang="en-US"/>
                        <a:t>99%</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024400"/>
                  </a:ext>
                </a:extLst>
              </a:tr>
              <a:tr h="325520">
                <a:tc>
                  <a:txBody>
                    <a:bodyPr/>
                    <a:lstStyle/>
                    <a:p>
                      <a:r>
                        <a:rPr lang="en-US"/>
                        <a:t>99.9%</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1586600619"/>
                  </a:ext>
                </a:extLst>
              </a:tr>
            </a:tbl>
          </a:graphicData>
        </a:graphic>
      </p:graphicFrame>
    </p:spTree>
    <p:extLst>
      <p:ext uri="{BB962C8B-B14F-4D97-AF65-F5344CB8AC3E}">
        <p14:creationId xmlns:p14="http://schemas.microsoft.com/office/powerpoint/2010/main" val="39976389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0EECD-C48C-C486-3700-EFAA017A299C}"/>
              </a:ext>
            </a:extLst>
          </p:cNvPr>
          <p:cNvSpPr>
            <a:spLocks noGrp="1"/>
          </p:cNvSpPr>
          <p:nvPr>
            <p:ph type="title"/>
          </p:nvPr>
        </p:nvSpPr>
        <p:spPr>
          <a:xfrm>
            <a:off x="838200" y="404692"/>
            <a:ext cx="10515600" cy="1325563"/>
          </a:xfrm>
        </p:spPr>
        <p:txBody>
          <a:bodyPr/>
          <a:lstStyle/>
          <a:p>
            <a:r>
              <a:rPr lang="en-US">
                <a:solidFill>
                  <a:srgbClr val="C00000"/>
                </a:solidFill>
              </a:rPr>
              <a:t>PCA Visualizations</a:t>
            </a:r>
          </a:p>
        </p:txBody>
      </p:sp>
      <p:pic>
        <p:nvPicPr>
          <p:cNvPr id="5" name="Content Placeholder 4">
            <a:extLst>
              <a:ext uri="{FF2B5EF4-FFF2-40B4-BE49-F238E27FC236}">
                <a16:creationId xmlns:a16="http://schemas.microsoft.com/office/drawing/2014/main" id="{C5CC4457-F724-EDD1-D7E8-C4B0AADCB39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88062"/>
            <a:ext cx="5258901" cy="3675303"/>
          </a:xfrm>
          <a:prstGeom prst="rect">
            <a:avLst/>
          </a:prstGeom>
        </p:spPr>
      </p:pic>
      <p:graphicFrame>
        <p:nvGraphicFramePr>
          <p:cNvPr id="4" name="Object 3">
            <a:extLst>
              <a:ext uri="{FF2B5EF4-FFF2-40B4-BE49-F238E27FC236}">
                <a16:creationId xmlns:a16="http://schemas.microsoft.com/office/drawing/2014/main" id="{1C437278-EAA8-1E70-2E4D-8B3628043C24}"/>
              </a:ext>
            </a:extLst>
          </p:cNvPr>
          <p:cNvGraphicFramePr>
            <a:graphicFrameLocks noChangeAspect="1"/>
          </p:cNvGraphicFramePr>
          <p:nvPr>
            <p:extLst>
              <p:ext uri="{D42A27DB-BD31-4B8C-83A1-F6EECF244321}">
                <p14:modId xmlns:p14="http://schemas.microsoft.com/office/powerpoint/2010/main" val="878166430"/>
              </p:ext>
            </p:extLst>
          </p:nvPr>
        </p:nvGraphicFramePr>
        <p:xfrm>
          <a:off x="7918450" y="2824163"/>
          <a:ext cx="2568575" cy="2201862"/>
        </p:xfrm>
        <a:graphic>
          <a:graphicData uri="http://schemas.openxmlformats.org/presentationml/2006/ole">
            <mc:AlternateContent xmlns:mc="http://schemas.openxmlformats.org/markup-compatibility/2006">
              <mc:Choice xmlns:v="urn:schemas-microsoft-com:vml" Requires="v">
                <p:oleObj name="Packager Shell Object" showAsIcon="1" r:id="rId3" imgW="789480" imgH="675720" progId="Package">
                  <p:embed/>
                </p:oleObj>
              </mc:Choice>
              <mc:Fallback>
                <p:oleObj name="Packager Shell Object" showAsIcon="1" r:id="rId3" imgW="789480" imgH="675720" progId="Package">
                  <p:embed/>
                  <p:pic>
                    <p:nvPicPr>
                      <p:cNvPr id="4" name="Object 3">
                        <a:extLst>
                          <a:ext uri="{FF2B5EF4-FFF2-40B4-BE49-F238E27FC236}">
                            <a16:creationId xmlns:a16="http://schemas.microsoft.com/office/drawing/2014/main" id="{1C437278-EAA8-1E70-2E4D-8B3628043C24}"/>
                          </a:ext>
                        </a:extLst>
                      </p:cNvPr>
                      <p:cNvPicPr/>
                      <p:nvPr/>
                    </p:nvPicPr>
                    <p:blipFill>
                      <a:blip r:embed="rId4"/>
                      <a:stretch>
                        <a:fillRect/>
                      </a:stretch>
                    </p:blipFill>
                    <p:spPr>
                      <a:xfrm>
                        <a:off x="7918450" y="2824163"/>
                        <a:ext cx="2568575" cy="2201862"/>
                      </a:xfrm>
                      <a:prstGeom prst="rect">
                        <a:avLst/>
                      </a:prstGeom>
                    </p:spPr>
                  </p:pic>
                </p:oleObj>
              </mc:Fallback>
            </mc:AlternateContent>
          </a:graphicData>
        </a:graphic>
      </p:graphicFrame>
    </p:spTree>
    <p:extLst>
      <p:ext uri="{BB962C8B-B14F-4D97-AF65-F5344CB8AC3E}">
        <p14:creationId xmlns:p14="http://schemas.microsoft.com/office/powerpoint/2010/main" val="2310056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69923-7B6E-6772-4DD7-EE5B3C753699}"/>
              </a:ext>
            </a:extLst>
          </p:cNvPr>
          <p:cNvSpPr>
            <a:spLocks noGrp="1"/>
          </p:cNvSpPr>
          <p:nvPr>
            <p:ph type="title"/>
          </p:nvPr>
        </p:nvSpPr>
        <p:spPr/>
        <p:txBody>
          <a:bodyPr/>
          <a:lstStyle/>
          <a:p>
            <a:r>
              <a:rPr lang="en-US">
                <a:solidFill>
                  <a:srgbClr val="C00000"/>
                </a:solidFill>
              </a:rPr>
              <a:t>First Principal Component</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EAF26DA-59DF-FDBD-2F3D-F16529934D9B}"/>
                  </a:ext>
                </a:extLst>
              </p:cNvPr>
              <p:cNvGraphicFramePr>
                <a:graphicFrameLocks noGrp="1"/>
              </p:cNvGraphicFramePr>
              <p:nvPr>
                <p:extLst>
                  <p:ext uri="{D42A27DB-BD31-4B8C-83A1-F6EECF244321}">
                    <p14:modId xmlns:p14="http://schemas.microsoft.com/office/powerpoint/2010/main" val="2595310397"/>
                  </p:ext>
                </p:extLst>
              </p:nvPr>
            </p:nvGraphicFramePr>
            <p:xfrm>
              <a:off x="4771850" y="1426142"/>
              <a:ext cx="5516592" cy="4675505"/>
            </p:xfrm>
            <a:graphic>
              <a:graphicData uri="http://schemas.openxmlformats.org/drawingml/2006/table">
                <a:tbl>
                  <a:tblPr/>
                  <a:tblGrid>
                    <a:gridCol w="794414">
                      <a:extLst>
                        <a:ext uri="{9D8B030D-6E8A-4147-A177-3AD203B41FA5}">
                          <a16:colId xmlns:a16="http://schemas.microsoft.com/office/drawing/2014/main" val="3012378477"/>
                        </a:ext>
                      </a:extLst>
                    </a:gridCol>
                    <a:gridCol w="558492">
                      <a:extLst>
                        <a:ext uri="{9D8B030D-6E8A-4147-A177-3AD203B41FA5}">
                          <a16:colId xmlns:a16="http://schemas.microsoft.com/office/drawing/2014/main" val="955842846"/>
                        </a:ext>
                      </a:extLst>
                    </a:gridCol>
                    <a:gridCol w="1219200">
                      <a:extLst>
                        <a:ext uri="{9D8B030D-6E8A-4147-A177-3AD203B41FA5}">
                          <a16:colId xmlns:a16="http://schemas.microsoft.com/office/drawing/2014/main" val="3166645513"/>
                        </a:ext>
                      </a:extLst>
                    </a:gridCol>
                    <a:gridCol w="2944486">
                      <a:extLst>
                        <a:ext uri="{9D8B030D-6E8A-4147-A177-3AD203B41FA5}">
                          <a16:colId xmlns:a16="http://schemas.microsoft.com/office/drawing/2014/main" val="2169527007"/>
                        </a:ext>
                      </a:extLst>
                    </a:gridCol>
                  </a:tblGrid>
                  <a:tr h="267429">
                    <a:tc>
                      <a:txBody>
                        <a:bodyPr/>
                        <a:lstStyle/>
                        <a:p>
                          <a:pPr algn="ctr"/>
                          <a:r>
                            <a:rPr lang="en-US" b="1"/>
                            <a:t>Rank</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oMath>
                            </m:oMathPara>
                          </a14:m>
                          <a:endParaRPr lang="en-US" b="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Loading</a:t>
                          </a:r>
                          <a14:m>
                            <m:oMath xmlns:m="http://schemas.openxmlformats.org/officeDocument/2006/math">
                              <m:sSub>
                                <m:sSubPr>
                                  <m:ctrlPr>
                                    <a:rPr lang="ar-AE" b="1" i="1" dirty="0" smtClean="0">
                                      <a:latin typeface="Cambria Math" panose="02040503050406030204" pitchFamily="18" charset="0"/>
                                    </a:rPr>
                                  </m:ctrlPr>
                                </m:sSubPr>
                                <m:e>
                                  <m:r>
                                    <a:rPr lang="ar-AE" b="0" i="1" dirty="0" smtClean="0">
                                      <a:latin typeface="Cambria Math" panose="02040503050406030204" pitchFamily="18" charset="0"/>
                                    </a:rPr>
                                    <m:t>𝑎</m:t>
                                  </m:r>
                                </m:e>
                                <m:sub>
                                  <m:r>
                                    <a:rPr lang="ar-AE" b="0" i="1" dirty="0" smtClean="0">
                                      <a:latin typeface="Cambria Math" panose="02040503050406030204" pitchFamily="18" charset="0"/>
                                    </a:rPr>
                                    <m:t>1</m:t>
                                  </m:r>
                                  <m:r>
                                    <a:rPr lang="ar-AE" b="0" i="1" dirty="0" smtClean="0">
                                      <a:latin typeface="Cambria Math" panose="02040503050406030204" pitchFamily="18" charset="0"/>
                                    </a:rPr>
                                    <m:t>, </m:t>
                                  </m:r>
                                  <m:r>
                                    <a:rPr lang="ar-AE" b="0" i="1" dirty="0" smtClean="0">
                                      <a:latin typeface="Cambria Math" panose="02040503050406030204" pitchFamily="18" charset="0"/>
                                    </a:rPr>
                                    <m:t>𝑖</m:t>
                                  </m:r>
                                </m:sub>
                              </m:sSub>
                            </m:oMath>
                          </a14:m>
                          <a:endParaRPr lang="ar-A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Feature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20725236"/>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fBodyAcc-sma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446333"/>
                      </a:ext>
                    </a:extLst>
                  </a:tr>
                  <a:tr h="334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360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0.058568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fBodyAccJerk-sma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32910"/>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3</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a:t>
                          </a:r>
                          <a:r>
                            <a:rPr lang="en-US" err="1">
                              <a:latin typeface="Consolas" panose="020B0609020204030204" pitchFamily="49" charset="0"/>
                            </a:rPr>
                            <a:t>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43672"/>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4</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439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fBodyGyro-sma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024400"/>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0.058493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tBodyAccJerkMag</a:t>
                          </a:r>
                          <a:r>
                            <a:rPr lang="en-US">
                              <a:latin typeface="Consolas" panose="020B0609020204030204" pitchFamily="49" charset="0"/>
                            </a:rPr>
                            <a:t>-mean()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6600619"/>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m:t>
                                </m:r>
                              </m:oMath>
                            </m:oMathPara>
                          </a14:m>
                          <a:endParaRPr lang="en-US" sz="1800" b="0" i="0" kern="1200">
                            <a:solidFill>
                              <a:schemeClr val="tx1"/>
                            </a:solidFill>
                            <a:effectLst/>
                            <a:latin typeface="+mn-lt"/>
                            <a:ea typeface="+mn-ea"/>
                            <a:cs typeface="+mn-cs"/>
                          </a:endParaRP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m:t>
                                </m:r>
                              </m:oMath>
                            </m:oMathPara>
                          </a14:m>
                          <a:endParaRPr lang="en-US" sz="1800" b="0" i="0" kern="120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m:t>
                                </m:r>
                              </m:oMath>
                            </m:oMathPara>
                          </a14:m>
                          <a:endParaRPr lang="en-US" sz="1800" b="0" i="0" kern="120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0" i="1" kern="1200" smtClean="0">
                                    <a:solidFill>
                                      <a:schemeClr val="tx1"/>
                                    </a:solidFill>
                                    <a:effectLst/>
                                    <a:latin typeface="Cambria Math" panose="02040503050406030204" pitchFamily="18" charset="0"/>
                                    <a:ea typeface="+mn-ea"/>
                                    <a:cs typeface="+mn-cs"/>
                                  </a:rPr>
                                  <m:t>⋮</m:t>
                                </m:r>
                              </m:oMath>
                            </m:oMathPara>
                          </a14:m>
                          <a:endParaRPr lang="en-US" sz="1800" b="0" i="0" kern="120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02090"/>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557</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-0.054494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7333"/>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558</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-0.054851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2530712"/>
                      </a:ext>
                    </a:extLst>
                  </a:tr>
                  <a:tr h="3370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559</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-0.055584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135617"/>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560</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-0.055753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tBodyAcc</a:t>
                          </a:r>
                          <a:r>
                            <a:rPr lang="en-US">
                              <a:latin typeface="Consolas" panose="020B0609020204030204" pitchFamily="49" charset="0"/>
                            </a:rPr>
                            <a:t>-min()-Y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687022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561</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-0.056291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r>
                            <a:rPr lang="en-US" err="1">
                              <a:latin typeface="Consolas" panose="020B0609020204030204" pitchFamily="49" charset="0"/>
                            </a:rPr>
                            <a:t>tBodyAcc</a:t>
                          </a:r>
                          <a:r>
                            <a:rPr lang="en-US">
                              <a:latin typeface="Consolas" panose="020B0609020204030204" pitchFamily="49" charset="0"/>
                            </a:rPr>
                            <a:t>-min()-X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2933720555"/>
                      </a:ext>
                    </a:extLst>
                  </a:tr>
                </a:tbl>
              </a:graphicData>
            </a:graphic>
          </p:graphicFrame>
        </mc:Choice>
        <mc:Fallback xmlns="">
          <p:graphicFrame>
            <p:nvGraphicFramePr>
              <p:cNvPr id="4" name="Table 3">
                <a:extLst>
                  <a:ext uri="{FF2B5EF4-FFF2-40B4-BE49-F238E27FC236}">
                    <a16:creationId xmlns:a16="http://schemas.microsoft.com/office/drawing/2014/main" id="{BEAF26DA-59DF-FDBD-2F3D-F16529934D9B}"/>
                  </a:ext>
                </a:extLst>
              </p:cNvPr>
              <p:cNvGraphicFramePr>
                <a:graphicFrameLocks noGrp="1"/>
              </p:cNvGraphicFramePr>
              <p:nvPr>
                <p:extLst>
                  <p:ext uri="{D42A27DB-BD31-4B8C-83A1-F6EECF244321}">
                    <p14:modId xmlns:p14="http://schemas.microsoft.com/office/powerpoint/2010/main" val="2595310397"/>
                  </p:ext>
                </p:extLst>
              </p:nvPr>
            </p:nvGraphicFramePr>
            <p:xfrm>
              <a:off x="4771850" y="1426142"/>
              <a:ext cx="5516592" cy="4675505"/>
            </p:xfrm>
            <a:graphic>
              <a:graphicData uri="http://schemas.openxmlformats.org/drawingml/2006/table">
                <a:tbl>
                  <a:tblPr/>
                  <a:tblGrid>
                    <a:gridCol w="794414">
                      <a:extLst>
                        <a:ext uri="{9D8B030D-6E8A-4147-A177-3AD203B41FA5}">
                          <a16:colId xmlns:a16="http://schemas.microsoft.com/office/drawing/2014/main" val="3012378477"/>
                        </a:ext>
                      </a:extLst>
                    </a:gridCol>
                    <a:gridCol w="558492">
                      <a:extLst>
                        <a:ext uri="{9D8B030D-6E8A-4147-A177-3AD203B41FA5}">
                          <a16:colId xmlns:a16="http://schemas.microsoft.com/office/drawing/2014/main" val="955842846"/>
                        </a:ext>
                      </a:extLst>
                    </a:gridCol>
                    <a:gridCol w="1219200">
                      <a:extLst>
                        <a:ext uri="{9D8B030D-6E8A-4147-A177-3AD203B41FA5}">
                          <a16:colId xmlns:a16="http://schemas.microsoft.com/office/drawing/2014/main" val="3166645513"/>
                        </a:ext>
                      </a:extLst>
                    </a:gridCol>
                    <a:gridCol w="2944486">
                      <a:extLst>
                        <a:ext uri="{9D8B030D-6E8A-4147-A177-3AD203B41FA5}">
                          <a16:colId xmlns:a16="http://schemas.microsoft.com/office/drawing/2014/main" val="2169527007"/>
                        </a:ext>
                      </a:extLst>
                    </a:gridCol>
                  </a:tblGrid>
                  <a:tr h="652145">
                    <a:tc>
                      <a:txBody>
                        <a:bodyPr/>
                        <a:lstStyle/>
                        <a:p>
                          <a:pPr algn="ctr"/>
                          <a:r>
                            <a:rPr lang="en-US" b="1"/>
                            <a:t>Rank</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42391" t="-4673" r="-745652" b="-632710"/>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2"/>
                          <a:stretch>
                            <a:fillRect l="-111500" t="-4673" r="-243000" b="-632710"/>
                          </a:stretch>
                        </a:blipFill>
                      </a:tcPr>
                    </a:tc>
                    <a:tc>
                      <a:txBody>
                        <a:bodyPr/>
                        <a:lstStyle/>
                        <a:p>
                          <a:pPr algn="ctr"/>
                          <a:r>
                            <a:rPr lang="en-US" b="1"/>
                            <a:t>Feature 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2072523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0.058571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fBodyAcc-sma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446333"/>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360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0.058568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fBodyAccJerk-sma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3291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3</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a:t>
                          </a:r>
                          <a:r>
                            <a:rPr lang="en-US" err="1">
                              <a:latin typeface="Consolas" panose="020B0609020204030204" pitchFamily="49" charset="0"/>
                            </a:rPr>
                            <a:t>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43672"/>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4</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439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0.058531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fBodyGyro-sma</a:t>
                          </a:r>
                          <a:r>
                            <a:rPr lang="en-US">
                              <a:latin typeface="Consolas" panose="020B0609020204030204" pitchFamily="49"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02440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227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b="0" i="0" kern="1200">
                              <a:solidFill>
                                <a:schemeClr val="tx1"/>
                              </a:solidFill>
                              <a:effectLst/>
                              <a:latin typeface="+mn-lt"/>
                              <a:ea typeface="+mn-ea"/>
                              <a:cs typeface="+mn-cs"/>
                            </a:rPr>
                            <a:t>0.058493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tBodyAccJerkMag</a:t>
                          </a:r>
                          <a:r>
                            <a:rPr lang="en-US">
                              <a:latin typeface="Consolas" panose="020B0609020204030204" pitchFamily="49" charset="0"/>
                            </a:rPr>
                            <a:t>-mean()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6600619"/>
                      </a:ext>
                    </a:extLst>
                  </a:tr>
                  <a:tr h="365760">
                    <a:tc>
                      <a:txBody>
                        <a:bodyPr/>
                        <a:lstStyle/>
                        <a:p>
                          <a:endParaRPr lang="en-US"/>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769" t="-688333" r="-598462" b="-5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42391" t="-688333" r="-745652" b="-5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1500" t="-688333" r="-243000" b="-526667"/>
                          </a:stretch>
                        </a:blip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87397" t="-688333" r="-413" b="-526667"/>
                          </a:stretch>
                        </a:blipFill>
                      </a:tcPr>
                    </a:tc>
                    <a:extLst>
                      <a:ext uri="{0D108BD9-81ED-4DB2-BD59-A6C34878D82A}">
                        <a16:rowId xmlns:a16="http://schemas.microsoft.com/office/drawing/2014/main" val="27830209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557</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-0.054494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tBodyAccJerk-min()-Z</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227333"/>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558</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-0.054851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2530712"/>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559</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-0.055584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Consolas" panose="020B0609020204030204" pitchFamily="49" charset="0"/>
                            </a:rPr>
                            <a:t>tBodyAccJerk-min()-X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3135617"/>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560</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-0.055753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err="1">
                              <a:latin typeface="Consolas" panose="020B0609020204030204" pitchFamily="49" charset="0"/>
                            </a:rPr>
                            <a:t>tBodyAcc</a:t>
                          </a:r>
                          <a:r>
                            <a:rPr lang="en-US">
                              <a:latin typeface="Consolas" panose="020B0609020204030204" pitchFamily="49" charset="0"/>
                            </a:rPr>
                            <a:t>-min()-Y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6870221"/>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561</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-0.056291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tc>
                      <a:txBody>
                        <a:bodyPr/>
                        <a:lstStyle/>
                        <a:p>
                          <a:r>
                            <a:rPr lang="en-US" err="1">
                              <a:latin typeface="Consolas" panose="020B0609020204030204" pitchFamily="49" charset="0"/>
                            </a:rPr>
                            <a:t>tBodyAcc</a:t>
                          </a:r>
                          <a:r>
                            <a:rPr lang="en-US">
                              <a:latin typeface="Consolas" panose="020B0609020204030204" pitchFamily="49" charset="0"/>
                            </a:rPr>
                            <a:t>-min()-X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solidFill>
                            <a:schemeClr val="tx1"/>
                          </a:solidFill>
                          <a:prstDash val="solid"/>
                        </a:lnB>
                      </a:tcPr>
                    </a:tc>
                    <a:extLst>
                      <a:ext uri="{0D108BD9-81ED-4DB2-BD59-A6C34878D82A}">
                        <a16:rowId xmlns:a16="http://schemas.microsoft.com/office/drawing/2014/main" val="2933720555"/>
                      </a:ext>
                    </a:extLst>
                  </a:tr>
                </a:tbl>
              </a:graphicData>
            </a:graphic>
          </p:graphicFrame>
        </mc:Fallback>
      </mc:AlternateContent>
      <p:sp>
        <p:nvSpPr>
          <p:cNvPr id="6" name="Left Brace 5">
            <a:extLst>
              <a:ext uri="{FF2B5EF4-FFF2-40B4-BE49-F238E27FC236}">
                <a16:creationId xmlns:a16="http://schemas.microsoft.com/office/drawing/2014/main" id="{DA33B544-005D-A9F0-5A1B-7A7907A5F91F}"/>
              </a:ext>
            </a:extLst>
          </p:cNvPr>
          <p:cNvSpPr/>
          <p:nvPr/>
        </p:nvSpPr>
        <p:spPr>
          <a:xfrm rot="10800000">
            <a:off x="10356755" y="2074069"/>
            <a:ext cx="204310" cy="181721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C55D1F5-3F5F-21AA-957C-C0D00EF007EE}"/>
              </a:ext>
            </a:extLst>
          </p:cNvPr>
          <p:cNvSpPr txBox="1"/>
          <p:nvPr/>
        </p:nvSpPr>
        <p:spPr>
          <a:xfrm>
            <a:off x="10561334" y="2382509"/>
            <a:ext cx="1584932" cy="1200329"/>
          </a:xfrm>
          <a:prstGeom prst="rect">
            <a:avLst/>
          </a:prstGeom>
          <a:noFill/>
        </p:spPr>
        <p:txBody>
          <a:bodyPr wrap="square" rtlCol="0">
            <a:spAutoFit/>
          </a:bodyPr>
          <a:lstStyle/>
          <a:p>
            <a:r>
              <a:rPr lang="en-US"/>
              <a:t>Signify </a:t>
            </a:r>
            <a:r>
              <a:rPr lang="en-US" b="1"/>
              <a:t>consistent</a:t>
            </a:r>
            <a:r>
              <a:rPr lang="en-US"/>
              <a:t> accelerations and jerk </a:t>
            </a:r>
          </a:p>
        </p:txBody>
      </p:sp>
      <p:sp>
        <p:nvSpPr>
          <p:cNvPr id="9" name="Left Brace 8">
            <a:extLst>
              <a:ext uri="{FF2B5EF4-FFF2-40B4-BE49-F238E27FC236}">
                <a16:creationId xmlns:a16="http://schemas.microsoft.com/office/drawing/2014/main" id="{4F9CE1BA-F11B-7ADE-B6AD-39F1834920FB}"/>
              </a:ext>
            </a:extLst>
          </p:cNvPr>
          <p:cNvSpPr/>
          <p:nvPr/>
        </p:nvSpPr>
        <p:spPr>
          <a:xfrm rot="10800000">
            <a:off x="10356755" y="4274660"/>
            <a:ext cx="204310" cy="1817211"/>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18120601-5DB5-62FC-5793-0BDA7A326627}"/>
              </a:ext>
            </a:extLst>
          </p:cNvPr>
          <p:cNvSpPr txBox="1"/>
          <p:nvPr/>
        </p:nvSpPr>
        <p:spPr>
          <a:xfrm>
            <a:off x="10561065" y="4721601"/>
            <a:ext cx="1906985" cy="923330"/>
          </a:xfrm>
          <a:prstGeom prst="rect">
            <a:avLst/>
          </a:prstGeom>
          <a:noFill/>
        </p:spPr>
        <p:txBody>
          <a:bodyPr wrap="square" rtlCol="0">
            <a:spAutoFit/>
          </a:bodyPr>
          <a:lstStyle/>
          <a:p>
            <a:r>
              <a:rPr lang="en-US"/>
              <a:t>Signify </a:t>
            </a:r>
            <a:r>
              <a:rPr lang="en-US" b="1"/>
              <a:t>spiky</a:t>
            </a:r>
            <a:r>
              <a:rPr lang="en-US"/>
              <a:t> accelerations and jerk </a:t>
            </a:r>
          </a:p>
        </p:txBody>
      </p:sp>
      <p:pic>
        <p:nvPicPr>
          <p:cNvPr id="12" name="Picture 11">
            <a:extLst>
              <a:ext uri="{FF2B5EF4-FFF2-40B4-BE49-F238E27FC236}">
                <a16:creationId xmlns:a16="http://schemas.microsoft.com/office/drawing/2014/main" id="{A0C737EA-B258-0AAE-E153-EDE55BE55F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290" y="2395855"/>
            <a:ext cx="4323198" cy="2990849"/>
          </a:xfrm>
          <a:prstGeom prst="rect">
            <a:avLst/>
          </a:prstGeom>
        </p:spPr>
      </p:pic>
    </p:spTree>
    <p:extLst>
      <p:ext uri="{BB962C8B-B14F-4D97-AF65-F5344CB8AC3E}">
        <p14:creationId xmlns:p14="http://schemas.microsoft.com/office/powerpoint/2010/main" val="3140126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B23DC-08D6-4155-C0DD-8F64F3E6D4C1}"/>
              </a:ext>
            </a:extLst>
          </p:cNvPr>
          <p:cNvSpPr>
            <a:spLocks noGrp="1"/>
          </p:cNvSpPr>
          <p:nvPr>
            <p:ph type="title"/>
          </p:nvPr>
        </p:nvSpPr>
        <p:spPr/>
        <p:txBody>
          <a:bodyPr/>
          <a:lstStyle/>
          <a:p>
            <a:r>
              <a:rPr lang="en-US">
                <a:solidFill>
                  <a:srgbClr val="C00000"/>
                </a:solidFill>
              </a:rPr>
              <a:t>PCA Transformed LDA Confusion Matrix </a:t>
            </a:r>
            <a:br>
              <a:rPr lang="en-US">
                <a:solidFill>
                  <a:srgbClr val="C00000"/>
                </a:solidFill>
              </a:rPr>
            </a:br>
            <a:r>
              <a:rPr lang="en-US" sz="3200">
                <a:solidFill>
                  <a:srgbClr val="C00000"/>
                </a:solidFill>
              </a:rPr>
              <a:t>102 Principal Components</a:t>
            </a:r>
          </a:p>
        </p:txBody>
      </p:sp>
      <p:pic>
        <p:nvPicPr>
          <p:cNvPr id="4" name="Picture 3" descr="A graph with blue squares and numbers&#10;&#10;AI-generated content may be incorrect.">
            <a:extLst>
              <a:ext uri="{FF2B5EF4-FFF2-40B4-BE49-F238E27FC236}">
                <a16:creationId xmlns:a16="http://schemas.microsoft.com/office/drawing/2014/main" id="{F3E71A58-F3D8-464E-A776-C0B1AF79465A}"/>
              </a:ext>
            </a:extLst>
          </p:cNvPr>
          <p:cNvPicPr>
            <a:picLocks noChangeAspect="1"/>
          </p:cNvPicPr>
          <p:nvPr/>
        </p:nvPicPr>
        <p:blipFill>
          <a:blip r:embed="rId2"/>
          <a:stretch>
            <a:fillRect/>
          </a:stretch>
        </p:blipFill>
        <p:spPr>
          <a:xfrm>
            <a:off x="835375" y="2139333"/>
            <a:ext cx="6515805" cy="4092222"/>
          </a:xfrm>
          <a:prstGeom prst="rect">
            <a:avLst/>
          </a:prstGeom>
        </p:spPr>
      </p:pic>
      <p:sp>
        <p:nvSpPr>
          <p:cNvPr id="5" name="TextBox 4">
            <a:extLst>
              <a:ext uri="{FF2B5EF4-FFF2-40B4-BE49-F238E27FC236}">
                <a16:creationId xmlns:a16="http://schemas.microsoft.com/office/drawing/2014/main" id="{DAAAC815-9D14-1B4A-CE7F-E4EA5348009C}"/>
              </a:ext>
            </a:extLst>
          </p:cNvPr>
          <p:cNvSpPr txBox="1"/>
          <p:nvPr/>
        </p:nvSpPr>
        <p:spPr>
          <a:xfrm>
            <a:off x="7625000" y="2137332"/>
            <a:ext cx="424744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t>More misclassifications on the test data, </a:t>
            </a:r>
            <a:r>
              <a:rPr lang="en-US" dirty="0"/>
              <a:t>and more </a:t>
            </a:r>
            <a:r>
              <a:rPr lang="en-US"/>
              <a:t>categories</a:t>
            </a:r>
            <a:r>
              <a:rPr lang="en-US" dirty="0"/>
              <a:t> carry misclassifications </a:t>
            </a:r>
            <a:r>
              <a:rPr lang="en-US"/>
              <a:t>than before.</a:t>
            </a:r>
            <a:endParaRPr lang="en-US" dirty="0"/>
          </a:p>
          <a:p>
            <a:pPr marL="285750" indent="-285750">
              <a:buFont typeface="Wingdings"/>
              <a:buChar char="Ø"/>
            </a:pPr>
            <a:endParaRPr lang="en-US"/>
          </a:p>
          <a:p>
            <a:pPr marL="285750" indent="-285750">
              <a:buFont typeface="Wingdings"/>
              <a:buChar char="Ø"/>
            </a:pPr>
            <a:r>
              <a:rPr lang="en-US"/>
              <a:t>Slightly worse generalization on the test set using only 18.18% as many features as the original.</a:t>
            </a:r>
            <a:endParaRPr lang="en-US" dirty="0"/>
          </a:p>
          <a:p>
            <a:pPr marL="285750" indent="-285750">
              <a:buFont typeface="Wingdings"/>
              <a:buChar char="Ø"/>
            </a:pPr>
            <a:endParaRPr lang="en-US"/>
          </a:p>
          <a:p>
            <a:pPr marL="285750" indent="-285750">
              <a:buFont typeface="Wingdings"/>
              <a:buChar char="Ø"/>
            </a:pPr>
            <a:r>
              <a:rPr lang="en-US"/>
              <a:t>PCA transformed accuracy = 0.929</a:t>
            </a:r>
          </a:p>
        </p:txBody>
      </p:sp>
    </p:spTree>
    <p:extLst>
      <p:ext uri="{BB962C8B-B14F-4D97-AF65-F5344CB8AC3E}">
        <p14:creationId xmlns:p14="http://schemas.microsoft.com/office/powerpoint/2010/main" val="30800455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A2FB-2FF6-4DE3-4062-9079CD4E1D7F}"/>
              </a:ext>
            </a:extLst>
          </p:cNvPr>
          <p:cNvSpPr>
            <a:spLocks noGrp="1"/>
          </p:cNvSpPr>
          <p:nvPr>
            <p:ph type="title"/>
          </p:nvPr>
        </p:nvSpPr>
        <p:spPr/>
        <p:txBody>
          <a:bodyPr/>
          <a:lstStyle/>
          <a:p>
            <a:r>
              <a:rPr lang="en-US">
                <a:solidFill>
                  <a:srgbClr val="C00000"/>
                </a:solidFill>
              </a:rPr>
              <a:t>PCA Transformed LDA Performance Metrics</a:t>
            </a:r>
          </a:p>
        </p:txBody>
      </p:sp>
      <p:sp>
        <p:nvSpPr>
          <p:cNvPr id="5" name="TextBox 4">
            <a:extLst>
              <a:ext uri="{FF2B5EF4-FFF2-40B4-BE49-F238E27FC236}">
                <a16:creationId xmlns:a16="http://schemas.microsoft.com/office/drawing/2014/main" id="{55172DA2-C069-B77E-D059-4F998D2B8BB3}"/>
              </a:ext>
            </a:extLst>
          </p:cNvPr>
          <p:cNvSpPr txBox="1"/>
          <p:nvPr/>
        </p:nvSpPr>
        <p:spPr>
          <a:xfrm>
            <a:off x="7537895" y="1770527"/>
            <a:ext cx="4306105"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Wingdings"/>
              <a:buChar char="Ø"/>
            </a:pPr>
            <a:r>
              <a:rPr lang="en-US"/>
              <a:t>In comparison to the baseline, we predict correct classes and catch real observations of each a l</a:t>
            </a:r>
            <a:r>
              <a:rPr lang="en-US" dirty="0"/>
              <a:t>ower p</a:t>
            </a:r>
            <a:r>
              <a:rPr lang="en-US"/>
              <a:t>ercentage of the time.</a:t>
            </a:r>
          </a:p>
          <a:p>
            <a:pPr marL="285750" indent="-285750">
              <a:buFont typeface="Wingdings"/>
              <a:buChar char="Ø"/>
            </a:pPr>
            <a:endParaRPr lang="en-US"/>
          </a:p>
          <a:p>
            <a:pPr marL="285750" indent="-285750">
              <a:buFont typeface="Wingdings"/>
              <a:buChar char="Ø"/>
            </a:pPr>
            <a:r>
              <a:rPr lang="en-US"/>
              <a:t>Loss in F1 as high as 6.2%, with a loss of 3.5% on average.</a:t>
            </a:r>
            <a:endParaRPr lang="en-US" dirty="0"/>
          </a:p>
          <a:p>
            <a:pPr marL="285750" indent="-285750">
              <a:buFont typeface="Wingdings"/>
              <a:buChar char="Ø"/>
            </a:pPr>
            <a:endParaRPr lang="en-US"/>
          </a:p>
          <a:p>
            <a:pPr marL="285750" indent="-285750">
              <a:buFont typeface="Wingdings"/>
              <a:buChar char="Ø"/>
            </a:pPr>
            <a:r>
              <a:rPr lang="en-US" b="1"/>
              <a:t>Enormous relative speedup</a:t>
            </a:r>
            <a:r>
              <a:rPr lang="en-US"/>
              <a:t> of 95.99%, from ~7.6 seconds to ~0.3 seconds.</a:t>
            </a:r>
            <a:endParaRPr lang="en-US" dirty="0"/>
          </a:p>
          <a:p>
            <a:pPr marL="285750" indent="-285750">
              <a:buFont typeface="Wingdings"/>
              <a:buChar char="Ø"/>
            </a:pPr>
            <a:endParaRPr lang="en-US"/>
          </a:p>
        </p:txBody>
      </p:sp>
      <p:pic>
        <p:nvPicPr>
          <p:cNvPr id="3" name="Picture 2" descr="A screenshot of a graph&#10;&#10;AI-generated content may be incorrect.">
            <a:extLst>
              <a:ext uri="{FF2B5EF4-FFF2-40B4-BE49-F238E27FC236}">
                <a16:creationId xmlns:a16="http://schemas.microsoft.com/office/drawing/2014/main" id="{EF002207-B1C2-2828-C241-704C6A39DF54}"/>
              </a:ext>
            </a:extLst>
          </p:cNvPr>
          <p:cNvPicPr>
            <a:picLocks noChangeAspect="1"/>
          </p:cNvPicPr>
          <p:nvPr/>
        </p:nvPicPr>
        <p:blipFill>
          <a:blip r:embed="rId2"/>
          <a:stretch>
            <a:fillRect/>
          </a:stretch>
        </p:blipFill>
        <p:spPr>
          <a:xfrm>
            <a:off x="840557" y="1641126"/>
            <a:ext cx="6363093" cy="3583603"/>
          </a:xfrm>
          <a:prstGeom prst="rect">
            <a:avLst/>
          </a:prstGeom>
        </p:spPr>
      </p:pic>
    </p:spTree>
    <p:extLst>
      <p:ext uri="{BB962C8B-B14F-4D97-AF65-F5344CB8AC3E}">
        <p14:creationId xmlns:p14="http://schemas.microsoft.com/office/powerpoint/2010/main" val="28665127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7F61-2E04-4C9E-C435-7530C9A4382B}"/>
              </a:ext>
            </a:extLst>
          </p:cNvPr>
          <p:cNvSpPr>
            <a:spLocks noGrp="1"/>
          </p:cNvSpPr>
          <p:nvPr>
            <p:ph type="title"/>
          </p:nvPr>
        </p:nvSpPr>
        <p:spPr>
          <a:xfrm>
            <a:off x="838200" y="160514"/>
            <a:ext cx="10515600" cy="1325563"/>
          </a:xfrm>
        </p:spPr>
        <p:txBody>
          <a:bodyPr/>
          <a:lstStyle/>
          <a:p>
            <a:r>
              <a:rPr lang="en-US">
                <a:solidFill>
                  <a:srgbClr val="C00000"/>
                </a:solidFill>
              </a:rPr>
              <a:t>LDA Model Comparison</a:t>
            </a:r>
          </a:p>
        </p:txBody>
      </p:sp>
      <p:sp>
        <p:nvSpPr>
          <p:cNvPr id="5" name="TextBox 4">
            <a:extLst>
              <a:ext uri="{FF2B5EF4-FFF2-40B4-BE49-F238E27FC236}">
                <a16:creationId xmlns:a16="http://schemas.microsoft.com/office/drawing/2014/main" id="{16B9BA80-C460-BA64-6384-1F3DB2BE0C08}"/>
              </a:ext>
            </a:extLst>
          </p:cNvPr>
          <p:cNvSpPr txBox="1"/>
          <p:nvPr/>
        </p:nvSpPr>
        <p:spPr>
          <a:xfrm>
            <a:off x="462000" y="4064041"/>
            <a:ext cx="5634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Dimension reduction pros:</a:t>
            </a:r>
          </a:p>
          <a:p>
            <a:endParaRPr lang="en-US"/>
          </a:p>
          <a:p>
            <a:pPr marL="285750" indent="-285750">
              <a:buFont typeface="Wingdings"/>
              <a:buChar char="Ø"/>
            </a:pPr>
            <a:r>
              <a:rPr lang="en-US"/>
              <a:t>Much faster, more suitable for highly granular motion data producing millions of observations per day or weaker hardware.</a:t>
            </a:r>
            <a:endParaRPr lang="en-US" dirty="0"/>
          </a:p>
          <a:p>
            <a:pPr marL="285750" indent="-285750">
              <a:buFont typeface="Wingdings"/>
              <a:buChar char="Ø"/>
            </a:pPr>
            <a:endParaRPr lang="en-US"/>
          </a:p>
          <a:p>
            <a:pPr marL="285750" indent="-285750">
              <a:buFont typeface="Wingdings"/>
              <a:buChar char="Ø"/>
            </a:pPr>
            <a:r>
              <a:rPr lang="en-US"/>
              <a:t>We only need to run PCA once and then can fit a suite of models reaping these benefits.</a:t>
            </a:r>
            <a:endParaRPr lang="en-US" dirty="0"/>
          </a:p>
        </p:txBody>
      </p:sp>
      <p:sp>
        <p:nvSpPr>
          <p:cNvPr id="7" name="TextBox 6">
            <a:extLst>
              <a:ext uri="{FF2B5EF4-FFF2-40B4-BE49-F238E27FC236}">
                <a16:creationId xmlns:a16="http://schemas.microsoft.com/office/drawing/2014/main" id="{E2F736C0-201D-EBDE-24B6-FD9213CC4292}"/>
              </a:ext>
            </a:extLst>
          </p:cNvPr>
          <p:cNvSpPr txBox="1"/>
          <p:nvPr/>
        </p:nvSpPr>
        <p:spPr>
          <a:xfrm>
            <a:off x="6096928" y="4064041"/>
            <a:ext cx="5805093"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Dimension reduction cons:</a:t>
            </a:r>
          </a:p>
          <a:p>
            <a:endParaRPr lang="en-US"/>
          </a:p>
          <a:p>
            <a:pPr marL="285750" indent="-285750">
              <a:buFont typeface="Wingdings"/>
              <a:buChar char="Ø"/>
            </a:pPr>
            <a:r>
              <a:rPr lang="en-US"/>
              <a:t>Trade-off of lower generalization performance on unseen data.</a:t>
            </a:r>
            <a:endParaRPr lang="en-US" dirty="0"/>
          </a:p>
          <a:p>
            <a:pPr marL="285750" indent="-285750">
              <a:buFont typeface="Wingdings"/>
              <a:buChar char="Ø"/>
            </a:pPr>
            <a:endParaRPr lang="en-US"/>
          </a:p>
          <a:p>
            <a:pPr marL="285750" indent="-285750">
              <a:buFont typeface="Wingdings"/>
              <a:buChar char="Ø"/>
            </a:pPr>
            <a:r>
              <a:rPr lang="en-US"/>
              <a:t>Less suitable for motion data with fewer features, fewer correlated feature-feature pairs, and instances where lower accuracy can cause real harm (e.g. heart failure classification).</a:t>
            </a:r>
            <a:endParaRPr lang="en-US" dirty="0"/>
          </a:p>
          <a:p>
            <a:pPr marL="285750" indent="-285750">
              <a:buFont typeface="Wingdings"/>
              <a:buChar char="Ø"/>
            </a:pPr>
            <a:endParaRPr lang="en-US"/>
          </a:p>
          <a:p>
            <a:endParaRPr lang="en-US"/>
          </a:p>
        </p:txBody>
      </p:sp>
      <p:pic>
        <p:nvPicPr>
          <p:cNvPr id="9" name="Picture 8" descr="A screenshot of a graph&#10;&#10;AI-generated content may be incorrect.">
            <a:extLst>
              <a:ext uri="{FF2B5EF4-FFF2-40B4-BE49-F238E27FC236}">
                <a16:creationId xmlns:a16="http://schemas.microsoft.com/office/drawing/2014/main" id="{886E14F6-9E3E-ABD5-828A-FACB186BD226}"/>
              </a:ext>
            </a:extLst>
          </p:cNvPr>
          <p:cNvPicPr>
            <a:picLocks noChangeAspect="1"/>
          </p:cNvPicPr>
          <p:nvPr/>
        </p:nvPicPr>
        <p:blipFill>
          <a:blip r:embed="rId2"/>
          <a:stretch>
            <a:fillRect/>
          </a:stretch>
        </p:blipFill>
        <p:spPr>
          <a:xfrm>
            <a:off x="3898547" y="1485205"/>
            <a:ext cx="4394906" cy="2378429"/>
          </a:xfrm>
          <a:prstGeom prst="rect">
            <a:avLst/>
          </a:prstGeom>
        </p:spPr>
      </p:pic>
    </p:spTree>
    <p:extLst>
      <p:ext uri="{BB962C8B-B14F-4D97-AF65-F5344CB8AC3E}">
        <p14:creationId xmlns:p14="http://schemas.microsoft.com/office/powerpoint/2010/main" val="3938966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C9177-78DE-1440-F3C6-D50E37F3455B}"/>
              </a:ext>
            </a:extLst>
          </p:cNvPr>
          <p:cNvSpPr>
            <a:spLocks noGrp="1"/>
          </p:cNvSpPr>
          <p:nvPr>
            <p:ph type="title"/>
          </p:nvPr>
        </p:nvSpPr>
        <p:spPr/>
        <p:txBody>
          <a:bodyPr/>
          <a:lstStyle/>
          <a:p>
            <a:r>
              <a:rPr lang="en-US">
                <a:solidFill>
                  <a:srgbClr val="C00000"/>
                </a:solidFill>
              </a:rPr>
              <a:t>Dataset Implications</a:t>
            </a:r>
            <a:endParaRPr lang="en-US"/>
          </a:p>
        </p:txBody>
      </p:sp>
      <p:sp>
        <p:nvSpPr>
          <p:cNvPr id="3" name="Content Placeholder 2">
            <a:extLst>
              <a:ext uri="{FF2B5EF4-FFF2-40B4-BE49-F238E27FC236}">
                <a16:creationId xmlns:a16="http://schemas.microsoft.com/office/drawing/2014/main" id="{086B8F6D-13B4-9580-B600-5BE207BEC535}"/>
              </a:ext>
            </a:extLst>
          </p:cNvPr>
          <p:cNvSpPr>
            <a:spLocks noGrp="1"/>
          </p:cNvSpPr>
          <p:nvPr>
            <p:ph idx="1"/>
          </p:nvPr>
        </p:nvSpPr>
        <p:spPr/>
        <p:txBody>
          <a:bodyPr vert="horz" lIns="91440" tIns="45720" rIns="91440" bIns="45720" rtlCol="0" anchor="t">
            <a:normAutofit fontScale="92500" lnSpcReduction="10000"/>
          </a:bodyPr>
          <a:lstStyle/>
          <a:p>
            <a:pPr>
              <a:buFont typeface="Wingdings" panose="020B0604020202020204" pitchFamily="34" charset="0"/>
              <a:buChar char="Ø"/>
            </a:pPr>
            <a:r>
              <a:rPr lang="en-US"/>
              <a:t> Recordings encode </a:t>
            </a:r>
            <a:r>
              <a:rPr lang="en-US" b="1"/>
              <a:t>3 axes of linear acceleration</a:t>
            </a:r>
            <a:r>
              <a:rPr lang="en-US"/>
              <a:t> and </a:t>
            </a:r>
            <a:r>
              <a:rPr lang="en-US" b="1"/>
              <a:t>3 axes of angular velocity</a:t>
            </a:r>
            <a:r>
              <a:rPr lang="en-US"/>
              <a:t> at </a:t>
            </a:r>
            <a:r>
              <a:rPr lang="en-US" b="1"/>
              <a:t>50 Hz</a:t>
            </a:r>
            <a:r>
              <a:rPr lang="en-US"/>
              <a:t>.</a:t>
            </a:r>
          </a:p>
          <a:p>
            <a:pPr marL="0" indent="0">
              <a:buNone/>
            </a:pPr>
            <a:endParaRPr lang="en-US"/>
          </a:p>
          <a:p>
            <a:pPr>
              <a:buFont typeface="Wingdings" panose="020B0604020202020204" pitchFamily="34" charset="0"/>
              <a:buChar char="Ø"/>
            </a:pPr>
            <a:r>
              <a:rPr lang="en-US"/>
              <a:t> As readings are made 50 times a second, extrapolated over an entire day this brings us to 50 x 60 x 60 x 24 = </a:t>
            </a:r>
            <a:r>
              <a:rPr lang="en-US" b="1"/>
              <a:t>4.32 million readings per day. </a:t>
            </a:r>
            <a:r>
              <a:rPr lang="en-US"/>
              <a:t>With 6 recorded channels per reading, we have roughly </a:t>
            </a:r>
            <a:r>
              <a:rPr lang="en-US" b="1">
                <a:solidFill>
                  <a:srgbClr val="000000"/>
                </a:solidFill>
                <a:latin typeface="Aptos"/>
              </a:rPr>
              <a:t>26 million values recorded per day</a:t>
            </a:r>
            <a:r>
              <a:rPr lang="en-US" b="1"/>
              <a:t>.</a:t>
            </a:r>
            <a:endParaRPr lang="en-US"/>
          </a:p>
          <a:p>
            <a:pPr>
              <a:buFont typeface="Wingdings" panose="020B0604020202020204" pitchFamily="34" charset="0"/>
              <a:buChar char="Ø"/>
            </a:pPr>
            <a:endParaRPr lang="en-US"/>
          </a:p>
          <a:p>
            <a:pPr>
              <a:buFont typeface="Wingdings" panose="020B0604020202020204" pitchFamily="34" charset="0"/>
              <a:buChar char="Ø"/>
            </a:pPr>
            <a:r>
              <a:rPr lang="en-US"/>
              <a:t> Conclusion: </a:t>
            </a:r>
            <a:r>
              <a:rPr lang="en-US" b="1"/>
              <a:t>PCA makes it feasible to perform repeated classifications on less aggregated, more granular by improving speed without  a large reduction in prediction quality.</a:t>
            </a:r>
          </a:p>
        </p:txBody>
      </p:sp>
    </p:spTree>
    <p:extLst>
      <p:ext uri="{BB962C8B-B14F-4D97-AF65-F5344CB8AC3E}">
        <p14:creationId xmlns:p14="http://schemas.microsoft.com/office/powerpoint/2010/main" val="26875531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1CDD32D-FA80-76CD-C3A5-756C648C1678}"/>
                  </a:ext>
                </a:extLst>
              </p:cNvPr>
              <p:cNvSpPr>
                <a:spLocks noGrp="1"/>
              </p:cNvSpPr>
              <p:nvPr>
                <p:ph type="title"/>
              </p:nvPr>
            </p:nvSpPr>
            <p:spPr/>
            <p:txBody>
              <a:bodyPr/>
              <a:lstStyle/>
              <a:p>
                <a14:m>
                  <m:oMath xmlns:m="http://schemas.openxmlformats.org/officeDocument/2006/math">
                    <m:r>
                      <a:rPr lang="en-US" i="1">
                        <a:solidFill>
                          <a:srgbClr val="C00000"/>
                        </a:solidFill>
                        <a:latin typeface="Cambria Math" panose="02040503050406030204" pitchFamily="18" charset="0"/>
                      </a:rPr>
                      <m:t>𝑘</m:t>
                    </m:r>
                  </m:oMath>
                </a14:m>
                <a:r>
                  <a:rPr lang="en-US">
                    <a:solidFill>
                      <a:srgbClr val="C00000"/>
                    </a:solidFill>
                  </a:rPr>
                  <a:t>-Nearest Neighbors Introduction</a:t>
                </a:r>
              </a:p>
            </p:txBody>
          </p:sp>
        </mc:Choice>
        <mc:Fallback xmlns="">
          <p:sp>
            <p:nvSpPr>
              <p:cNvPr id="2" name="Title 1">
                <a:extLst>
                  <a:ext uri="{FF2B5EF4-FFF2-40B4-BE49-F238E27FC236}">
                    <a16:creationId xmlns:a16="http://schemas.microsoft.com/office/drawing/2014/main" id="{A1CDD32D-FA80-76CD-C3A5-756C648C1678}"/>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DAF2D06-E75F-CE4D-C8CB-38BA0596F87A}"/>
                  </a:ext>
                </a:extLst>
              </p:cNvPr>
              <p:cNvSpPr>
                <a:spLocks noGrp="1"/>
              </p:cNvSpPr>
              <p:nvPr>
                <p:ph idx="1"/>
              </p:nvPr>
            </p:nvSpPr>
            <p:spPr/>
            <p:txBody>
              <a:bodyPr/>
              <a:lstStyle/>
              <a:p>
                <a:r>
                  <a:rPr lang="en-US"/>
                  <a:t>Poll the class of the </a:t>
                </a:r>
                <a14:m>
                  <m:oMath xmlns:m="http://schemas.openxmlformats.org/officeDocument/2006/math">
                    <m:r>
                      <a:rPr lang="en-US" b="0" i="1" smtClean="0">
                        <a:latin typeface="Cambria Math" panose="02040503050406030204" pitchFamily="18" charset="0"/>
                      </a:rPr>
                      <m:t>𝑘</m:t>
                    </m:r>
                  </m:oMath>
                </a14:m>
                <a:r>
                  <a:rPr lang="en-US"/>
                  <a:t> nearest training observations to a given point; classify according to the most common response</a:t>
                </a:r>
              </a:p>
              <a:p>
                <a:r>
                  <a:rPr lang="en-US"/>
                  <a:t>Break ties randomly</a:t>
                </a:r>
              </a:p>
              <a:p>
                <a:r>
                  <a:rPr lang="en-US"/>
                  <a:t>Measuring using Euclidean distance is standard for continuous features, but other metrics can be used</a:t>
                </a:r>
              </a:p>
              <a:p>
                <a:r>
                  <a:rPr lang="en-US"/>
                  <a:t>Low </a:t>
                </a:r>
                <a14:m>
                  <m:oMath xmlns:m="http://schemas.openxmlformats.org/officeDocument/2006/math">
                    <m:r>
                      <a:rPr lang="en-US" b="0" i="1" smtClean="0">
                        <a:latin typeface="Cambria Math" panose="02040503050406030204" pitchFamily="18" charset="0"/>
                      </a:rPr>
                      <m:t>𝑘</m:t>
                    </m:r>
                  </m:oMath>
                </a14:m>
                <a:r>
                  <a:rPr lang="en-US"/>
                  <a:t> leads to overfitting; high </a:t>
                </a:r>
                <a14:m>
                  <m:oMath xmlns:m="http://schemas.openxmlformats.org/officeDocument/2006/math">
                    <m:r>
                      <a:rPr lang="en-US" b="0" i="1" smtClean="0">
                        <a:latin typeface="Cambria Math" panose="02040503050406030204" pitchFamily="18" charset="0"/>
                      </a:rPr>
                      <m:t>𝑘</m:t>
                    </m:r>
                  </m:oMath>
                </a14:m>
                <a:r>
                  <a:rPr lang="en-US"/>
                  <a:t> leads to underfitting</a:t>
                </a:r>
              </a:p>
            </p:txBody>
          </p:sp>
        </mc:Choice>
        <mc:Fallback xmlns="">
          <p:sp>
            <p:nvSpPr>
              <p:cNvPr id="3" name="Content Placeholder 2">
                <a:extLst>
                  <a:ext uri="{FF2B5EF4-FFF2-40B4-BE49-F238E27FC236}">
                    <a16:creationId xmlns:a16="http://schemas.microsoft.com/office/drawing/2014/main" id="{9DAF2D06-E75F-CE4D-C8CB-38BA0596F87A}"/>
                  </a:ext>
                </a:extLst>
              </p:cNvPr>
              <p:cNvSpPr>
                <a:spLocks noGrp="1" noRot="1" noChangeAspect="1" noMove="1" noResize="1" noEditPoints="1" noAdjustHandles="1" noChangeArrowheads="1" noChangeShapeType="1" noTextEdit="1"/>
              </p:cNvSpPr>
              <p:nvPr>
                <p:ph idx="1"/>
              </p:nvPr>
            </p:nvSpPr>
            <p:spPr>
              <a:blipFill>
                <a:blip r:embed="rId3"/>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912445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FA1C308-915E-4EE3-8511-C0D58A751CB4}"/>
                  </a:ext>
                </a:extLst>
              </p:cNvPr>
              <p:cNvSpPr>
                <a:spLocks noGrp="1"/>
              </p:cNvSpPr>
              <p:nvPr>
                <p:ph type="title"/>
              </p:nvPr>
            </p:nvSpPr>
            <p:spPr/>
            <p:txBody>
              <a:bodyPr/>
              <a:lstStyle/>
              <a:p>
                <a14:m>
                  <m:oMath xmlns:m="http://schemas.openxmlformats.org/officeDocument/2006/math">
                    <m:r>
                      <a:rPr lang="en-US" b="0" i="1" smtClean="0">
                        <a:solidFill>
                          <a:srgbClr val="C00000"/>
                        </a:solidFill>
                        <a:latin typeface="Cambria Math" panose="02040503050406030204" pitchFamily="18" charset="0"/>
                      </a:rPr>
                      <m:t>𝑘</m:t>
                    </m:r>
                  </m:oMath>
                </a14:m>
                <a:r>
                  <a:rPr lang="en-US">
                    <a:solidFill>
                      <a:srgbClr val="C00000"/>
                    </a:solidFill>
                  </a:rPr>
                  <a:t>-Nearest Neighbor Classification Tuning</a:t>
                </a:r>
              </a:p>
            </p:txBody>
          </p:sp>
        </mc:Choice>
        <mc:Fallback xmlns="">
          <p:sp>
            <p:nvSpPr>
              <p:cNvPr id="2" name="Title 1">
                <a:extLst>
                  <a:ext uri="{FF2B5EF4-FFF2-40B4-BE49-F238E27FC236}">
                    <a16:creationId xmlns:a16="http://schemas.microsoft.com/office/drawing/2014/main" id="{BFA1C308-915E-4EE3-8511-C0D58A751CB4}"/>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5F591A0-D23A-6554-7FD0-E4B7D241D8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01790" y="1587156"/>
            <a:ext cx="7365033" cy="5095232"/>
          </a:xfrm>
          <a:prstGeom prst="rect">
            <a:avLst/>
          </a:prstGeom>
        </p:spPr>
      </p:pic>
    </p:spTree>
    <p:extLst>
      <p:ext uri="{BB962C8B-B14F-4D97-AF65-F5344CB8AC3E}">
        <p14:creationId xmlns:p14="http://schemas.microsoft.com/office/powerpoint/2010/main" val="29256398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49C2E-A295-1C7D-77B8-7EC2A7C0BA2B}"/>
              </a:ext>
            </a:extLst>
          </p:cNvPr>
          <p:cNvSpPr>
            <a:spLocks noGrp="1"/>
          </p:cNvSpPr>
          <p:nvPr>
            <p:ph type="title"/>
          </p:nvPr>
        </p:nvSpPr>
        <p:spPr/>
        <p:txBody>
          <a:bodyPr/>
          <a:lstStyle/>
          <a:p>
            <a:r>
              <a:rPr lang="en-US">
                <a:solidFill>
                  <a:srgbClr val="C00000"/>
                </a:solidFill>
              </a:rPr>
              <a:t>Independently Tuning Hyperparameters</a:t>
            </a:r>
          </a:p>
        </p:txBody>
      </p:sp>
      <p:pic>
        <p:nvPicPr>
          <p:cNvPr id="5" name="Picture 4">
            <a:extLst>
              <a:ext uri="{FF2B5EF4-FFF2-40B4-BE49-F238E27FC236}">
                <a16:creationId xmlns:a16="http://schemas.microsoft.com/office/drawing/2014/main" id="{96C5B953-546E-C913-52AC-AC1D8542D5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172" y="1828709"/>
            <a:ext cx="5341771" cy="3695511"/>
          </a:xfrm>
          <a:prstGeom prst="rect">
            <a:avLst/>
          </a:prstGeom>
        </p:spPr>
      </p:pic>
      <p:pic>
        <p:nvPicPr>
          <p:cNvPr id="8" name="Picture 7">
            <a:extLst>
              <a:ext uri="{FF2B5EF4-FFF2-40B4-BE49-F238E27FC236}">
                <a16:creationId xmlns:a16="http://schemas.microsoft.com/office/drawing/2014/main" id="{38D65659-F110-04B2-265D-EFC5F3DFE4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3852" y="1828709"/>
            <a:ext cx="5341770" cy="369551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F3F8CDC-0833-5DF8-D5D9-205AAA5458D1}"/>
                  </a:ext>
                </a:extLst>
              </p:cNvPr>
              <p:cNvSpPr txBox="1"/>
              <p:nvPr/>
            </p:nvSpPr>
            <p:spPr>
              <a:xfrm>
                <a:off x="1157251" y="5662240"/>
                <a:ext cx="10033201" cy="707886"/>
              </a:xfrm>
              <a:prstGeom prst="rect">
                <a:avLst/>
              </a:prstGeom>
              <a:noFill/>
            </p:spPr>
            <p:txBody>
              <a:bodyPr wrap="square" rtlCol="0">
                <a:spAutoFit/>
              </a:bodyPr>
              <a:lstStyle/>
              <a:p>
                <a14:m>
                  <m:oMath xmlns:m="http://schemas.openxmlformats.org/officeDocument/2006/math">
                    <m:r>
                      <a:rPr lang="en-US" sz="2000" b="0" i="1" smtClean="0">
                        <a:latin typeface="Cambria Math" panose="02040503050406030204" pitchFamily="18" charset="0"/>
                      </a:rPr>
                      <m:t>𝑘</m:t>
                    </m:r>
                  </m:oMath>
                </a14:m>
                <a:r>
                  <a:rPr lang="en-US" sz="2000"/>
                  <a:t> = 20 and ≥ 120 principal components performs at ≈ </a:t>
                </a:r>
                <a:r>
                  <a:rPr lang="en-US" sz="2000" b="1"/>
                  <a:t>88.6% test accuracy,</a:t>
                </a:r>
                <a:r>
                  <a:rPr lang="en-US" sz="2000"/>
                  <a:t> equal to the performance of </a:t>
                </a:r>
                <a14:m>
                  <m:oMath xmlns:m="http://schemas.openxmlformats.org/officeDocument/2006/math">
                    <m:r>
                      <a:rPr lang="en-US" sz="2000" i="1">
                        <a:latin typeface="Cambria Math" panose="02040503050406030204" pitchFamily="18" charset="0"/>
                      </a:rPr>
                      <m:t>𝑘</m:t>
                    </m:r>
                  </m:oMath>
                </a14:m>
                <a:r>
                  <a:rPr lang="en-US" sz="2000"/>
                  <a:t>-NN on the original data set for the same </a:t>
                </a:r>
                <a14:m>
                  <m:oMath xmlns:m="http://schemas.openxmlformats.org/officeDocument/2006/math">
                    <m:r>
                      <a:rPr lang="en-US" sz="2000" b="0" i="1" smtClean="0">
                        <a:latin typeface="Cambria Math" panose="02040503050406030204" pitchFamily="18" charset="0"/>
                      </a:rPr>
                      <m:t>𝑘</m:t>
                    </m:r>
                  </m:oMath>
                </a14:m>
                <a:r>
                  <a:rPr lang="en-US" sz="2000"/>
                  <a:t>, and is ≈ </a:t>
                </a:r>
                <a:r>
                  <a:rPr lang="en-US" sz="2000" b="1"/>
                  <a:t>8.5x faster!</a:t>
                </a:r>
              </a:p>
            </p:txBody>
          </p:sp>
        </mc:Choice>
        <mc:Fallback xmlns="">
          <p:sp>
            <p:nvSpPr>
              <p:cNvPr id="9" name="TextBox 8">
                <a:extLst>
                  <a:ext uri="{FF2B5EF4-FFF2-40B4-BE49-F238E27FC236}">
                    <a16:creationId xmlns:a16="http://schemas.microsoft.com/office/drawing/2014/main" id="{0F3F8CDC-0833-5DF8-D5D9-205AAA5458D1}"/>
                  </a:ext>
                </a:extLst>
              </p:cNvPr>
              <p:cNvSpPr txBox="1">
                <a:spLocks noRot="1" noChangeAspect="1" noMove="1" noResize="1" noEditPoints="1" noAdjustHandles="1" noChangeArrowheads="1" noChangeShapeType="1" noTextEdit="1"/>
              </p:cNvSpPr>
              <p:nvPr/>
            </p:nvSpPr>
            <p:spPr>
              <a:xfrm>
                <a:off x="1157251" y="5662240"/>
                <a:ext cx="10033201" cy="707886"/>
              </a:xfrm>
              <a:prstGeom prst="rect">
                <a:avLst/>
              </a:prstGeom>
              <a:blipFill>
                <a:blip r:embed="rId4"/>
                <a:stretch>
                  <a:fillRect l="-668" t="-5172" b="-14655"/>
                </a:stretch>
              </a:blipFill>
            </p:spPr>
            <p:txBody>
              <a:bodyPr/>
              <a:lstStyle/>
              <a:p>
                <a:r>
                  <a:rPr lang="en-US">
                    <a:noFill/>
                  </a:rPr>
                  <a:t> </a:t>
                </a:r>
              </a:p>
            </p:txBody>
          </p:sp>
        </mc:Fallback>
      </mc:AlternateContent>
    </p:spTree>
    <p:extLst>
      <p:ext uri="{BB962C8B-B14F-4D97-AF65-F5344CB8AC3E}">
        <p14:creationId xmlns:p14="http://schemas.microsoft.com/office/powerpoint/2010/main" val="3864560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784A634-43B5-8E4A-B9CD-9F6196E69D5B}"/>
                  </a:ext>
                </a:extLst>
              </p:cNvPr>
              <p:cNvSpPr>
                <a:spLocks noGrp="1"/>
              </p:cNvSpPr>
              <p:nvPr>
                <p:ph type="title"/>
              </p:nvPr>
            </p:nvSpPr>
            <p:spPr/>
            <p:txBody>
              <a:bodyPr/>
              <a:lstStyle/>
              <a:p>
                <a14:m>
                  <m:oMath xmlns:m="http://schemas.openxmlformats.org/officeDocument/2006/math">
                    <m:r>
                      <a:rPr lang="en-US" i="1" smtClean="0">
                        <a:solidFill>
                          <a:srgbClr val="C00000"/>
                        </a:solidFill>
                        <a:latin typeface="Cambria Math" panose="02040503050406030204" pitchFamily="18" charset="0"/>
                      </a:rPr>
                      <m:t>𝑘</m:t>
                    </m:r>
                  </m:oMath>
                </a14:m>
                <a:r>
                  <a:rPr lang="en-US">
                    <a:solidFill>
                      <a:srgbClr val="C00000"/>
                    </a:solidFill>
                  </a:rPr>
                  <a:t>-NN Evaluation (</a:t>
                </a:r>
                <a14:m>
                  <m:oMath xmlns:m="http://schemas.openxmlformats.org/officeDocument/2006/math">
                    <m:r>
                      <a:rPr lang="en-US" b="0" i="1" smtClean="0">
                        <a:solidFill>
                          <a:srgbClr val="C00000"/>
                        </a:solidFill>
                        <a:latin typeface="Cambria Math" panose="02040503050406030204" pitchFamily="18" charset="0"/>
                      </a:rPr>
                      <m:t>𝑘</m:t>
                    </m:r>
                  </m:oMath>
                </a14:m>
                <a:r>
                  <a:rPr lang="en-US">
                    <a:solidFill>
                      <a:srgbClr val="C00000"/>
                    </a:solidFill>
                  </a:rPr>
                  <a:t> = 20, 125 PCs)</a:t>
                </a:r>
              </a:p>
            </p:txBody>
          </p:sp>
        </mc:Choice>
        <mc:Fallback xmlns="">
          <p:sp>
            <p:nvSpPr>
              <p:cNvPr id="2" name="Title 1">
                <a:extLst>
                  <a:ext uri="{FF2B5EF4-FFF2-40B4-BE49-F238E27FC236}">
                    <a16:creationId xmlns:a16="http://schemas.microsoft.com/office/drawing/2014/main" id="{8784A634-43B5-8E4A-B9CD-9F6196E69D5B}"/>
                  </a:ext>
                </a:extLst>
              </p:cNvPr>
              <p:cNvSpPr>
                <a:spLocks noGrp="1" noRot="1" noChangeAspect="1" noMove="1" noResize="1" noEditPoints="1" noAdjustHandles="1" noChangeArrowheads="1" noChangeShapeType="1" noTextEdit="1"/>
              </p:cNvSpPr>
              <p:nvPr>
                <p:ph type="title"/>
              </p:nvPr>
            </p:nvSpPr>
            <p:spPr>
              <a:blipFill>
                <a:blip r:embed="rId3"/>
                <a:stretch>
                  <a:fillRect/>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0E2838D0-3D40-EE09-EC7F-7C3AA73F251C}"/>
              </a:ext>
            </a:extLst>
          </p:cNvPr>
          <p:cNvGraphicFramePr>
            <a:graphicFrameLocks noGrp="1"/>
          </p:cNvGraphicFramePr>
          <p:nvPr>
            <p:extLst>
              <p:ext uri="{D42A27DB-BD31-4B8C-83A1-F6EECF244321}">
                <p14:modId xmlns:p14="http://schemas.microsoft.com/office/powerpoint/2010/main" val="1173444483"/>
              </p:ext>
            </p:extLst>
          </p:nvPr>
        </p:nvGraphicFramePr>
        <p:xfrm>
          <a:off x="2394388" y="2018580"/>
          <a:ext cx="2026835" cy="365760"/>
        </p:xfrm>
        <a:graphic>
          <a:graphicData uri="http://schemas.openxmlformats.org/drawingml/2006/table">
            <a:tbl>
              <a:tblPr/>
              <a:tblGrid>
                <a:gridCol w="1227454">
                  <a:extLst>
                    <a:ext uri="{9D8B030D-6E8A-4147-A177-3AD203B41FA5}">
                      <a16:colId xmlns:a16="http://schemas.microsoft.com/office/drawing/2014/main" val="2692810841"/>
                    </a:ext>
                  </a:extLst>
                </a:gridCol>
                <a:gridCol w="799381">
                  <a:extLst>
                    <a:ext uri="{9D8B030D-6E8A-4147-A177-3AD203B41FA5}">
                      <a16:colId xmlns:a16="http://schemas.microsoft.com/office/drawing/2014/main" val="3369593368"/>
                    </a:ext>
                  </a:extLst>
                </a:gridCol>
              </a:tblGrid>
              <a:tr h="0">
                <a:tc>
                  <a:txBody>
                    <a:bodyPr/>
                    <a:lstStyle/>
                    <a:p>
                      <a:r>
                        <a:rPr lang="en-US" b="1"/>
                        <a:t>Accuracy</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0.886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889010"/>
                  </a:ext>
                </a:extLst>
              </a:tr>
            </a:tbl>
          </a:graphicData>
        </a:graphic>
      </p:graphicFrame>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F2E781E-8624-DD77-9CEF-4DB7AD1BFD25}"/>
                  </a:ext>
                </a:extLst>
              </p:cNvPr>
              <p:cNvGraphicFramePr>
                <a:graphicFrameLocks noGrp="1"/>
              </p:cNvGraphicFramePr>
              <p:nvPr>
                <p:extLst>
                  <p:ext uri="{D42A27DB-BD31-4B8C-83A1-F6EECF244321}">
                    <p14:modId xmlns:p14="http://schemas.microsoft.com/office/powerpoint/2010/main" val="1907941535"/>
                  </p:ext>
                </p:extLst>
              </p:nvPr>
            </p:nvGraphicFramePr>
            <p:xfrm>
              <a:off x="526584" y="2625275"/>
              <a:ext cx="5762445" cy="2560320"/>
            </p:xfrm>
            <a:graphic>
              <a:graphicData uri="http://schemas.openxmlformats.org/drawingml/2006/table">
                <a:tbl>
                  <a:tblPr/>
                  <a:tblGrid>
                    <a:gridCol w="2506753">
                      <a:extLst>
                        <a:ext uri="{9D8B030D-6E8A-4147-A177-3AD203B41FA5}">
                          <a16:colId xmlns:a16="http://schemas.microsoft.com/office/drawing/2014/main" val="3012378477"/>
                        </a:ext>
                      </a:extLst>
                    </a:gridCol>
                    <a:gridCol w="1196854">
                      <a:extLst>
                        <a:ext uri="{9D8B030D-6E8A-4147-A177-3AD203B41FA5}">
                          <a16:colId xmlns:a16="http://schemas.microsoft.com/office/drawing/2014/main" val="955842846"/>
                        </a:ext>
                      </a:extLst>
                    </a:gridCol>
                    <a:gridCol w="862642">
                      <a:extLst>
                        <a:ext uri="{9D8B030D-6E8A-4147-A177-3AD203B41FA5}">
                          <a16:colId xmlns:a16="http://schemas.microsoft.com/office/drawing/2014/main" val="3166645513"/>
                        </a:ext>
                      </a:extLst>
                    </a:gridCol>
                    <a:gridCol w="1196196">
                      <a:extLst>
                        <a:ext uri="{9D8B030D-6E8A-4147-A177-3AD203B41FA5}">
                          <a16:colId xmlns:a16="http://schemas.microsoft.com/office/drawing/2014/main" val="2169527007"/>
                        </a:ext>
                      </a:extLst>
                    </a:gridCol>
                  </a:tblGrid>
                  <a:tr h="267429">
                    <a:tc>
                      <a:txBody>
                        <a:bodyPr/>
                        <a:lstStyle/>
                        <a:p>
                          <a:pPr algn="ctr"/>
                          <a:r>
                            <a:rPr lang="en-US" b="1"/>
                            <a:t>Class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Recall</a:t>
                          </a:r>
                          <a:endParaRPr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14:m>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𝑭</m:t>
                                  </m:r>
                                </m:e>
                                <m:sub>
                                  <m:r>
                                    <a:rPr lang="en-US" b="1" i="1" smtClean="0">
                                      <a:latin typeface="Cambria Math" panose="02040503050406030204" pitchFamily="18" charset="0"/>
                                    </a:rPr>
                                    <m:t>𝟏</m:t>
                                  </m:r>
                                </m:sub>
                              </m:sSub>
                            </m:oMath>
                          </a14:m>
                          <a:r>
                            <a:rPr lang="en-US" b="1"/>
                            <a:t> Score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820725236"/>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LAYING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446333"/>
                      </a:ext>
                    </a:extLst>
                  </a:tr>
                  <a:tr h="3345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SITTING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32910"/>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STANDING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43672"/>
                      </a:ext>
                    </a:extLst>
                  </a:tr>
                  <a:tr h="325520">
                    <a:tc>
                      <a:txBody>
                        <a:bodyPr/>
                        <a:lstStyle/>
                        <a:p>
                          <a:pPr latinLnBrk="1"/>
                          <a:r>
                            <a:rPr lang="en-US" sz="1800" b="0" i="0" kern="1200">
                              <a:solidFill>
                                <a:schemeClr val="tx1"/>
                              </a:solidFill>
                              <a:effectLst/>
                              <a:latin typeface="+mn-lt"/>
                              <a:ea typeface="+mn-ea"/>
                              <a:cs typeface="+mn-cs"/>
                            </a:rPr>
                            <a:t>WALKING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024400"/>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a:solidFill>
                                <a:schemeClr val="tx1"/>
                              </a:solidFill>
                              <a:effectLst/>
                              <a:latin typeface="+mn-lt"/>
                              <a:ea typeface="+mn-ea"/>
                              <a:cs typeface="+mn-cs"/>
                            </a:rPr>
                            <a:t>WALKING_DOWNSTAIRS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6600619"/>
                      </a:ext>
                    </a:extLst>
                  </a:tr>
                  <a:tr h="325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a:solidFill>
                                <a:schemeClr val="tx1"/>
                              </a:solidFill>
                              <a:effectLst/>
                              <a:latin typeface="+mn-lt"/>
                              <a:ea typeface="+mn-ea"/>
                              <a:cs typeface="+mn-cs"/>
                            </a:rPr>
                            <a:t>WALKING_UPSTAIRS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0.880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0.904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0.892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02090"/>
                      </a:ext>
                    </a:extLst>
                  </a:tr>
                </a:tbl>
              </a:graphicData>
            </a:graphic>
          </p:graphicFrame>
        </mc:Choice>
        <mc:Fallback xmlns="">
          <p:graphicFrame>
            <p:nvGraphicFramePr>
              <p:cNvPr id="3" name="Table 2">
                <a:extLst>
                  <a:ext uri="{FF2B5EF4-FFF2-40B4-BE49-F238E27FC236}">
                    <a16:creationId xmlns:a16="http://schemas.microsoft.com/office/drawing/2014/main" id="{6F2E781E-8624-DD77-9CEF-4DB7AD1BFD25}"/>
                  </a:ext>
                </a:extLst>
              </p:cNvPr>
              <p:cNvGraphicFramePr>
                <a:graphicFrameLocks noGrp="1"/>
              </p:cNvGraphicFramePr>
              <p:nvPr>
                <p:extLst>
                  <p:ext uri="{D42A27DB-BD31-4B8C-83A1-F6EECF244321}">
                    <p14:modId xmlns:p14="http://schemas.microsoft.com/office/powerpoint/2010/main" val="1907941535"/>
                  </p:ext>
                </p:extLst>
              </p:nvPr>
            </p:nvGraphicFramePr>
            <p:xfrm>
              <a:off x="526584" y="2625275"/>
              <a:ext cx="5762445" cy="2560320"/>
            </p:xfrm>
            <a:graphic>
              <a:graphicData uri="http://schemas.openxmlformats.org/drawingml/2006/table">
                <a:tbl>
                  <a:tblPr/>
                  <a:tblGrid>
                    <a:gridCol w="2506753">
                      <a:extLst>
                        <a:ext uri="{9D8B030D-6E8A-4147-A177-3AD203B41FA5}">
                          <a16:colId xmlns:a16="http://schemas.microsoft.com/office/drawing/2014/main" val="3012378477"/>
                        </a:ext>
                      </a:extLst>
                    </a:gridCol>
                    <a:gridCol w="1196854">
                      <a:extLst>
                        <a:ext uri="{9D8B030D-6E8A-4147-A177-3AD203B41FA5}">
                          <a16:colId xmlns:a16="http://schemas.microsoft.com/office/drawing/2014/main" val="955842846"/>
                        </a:ext>
                      </a:extLst>
                    </a:gridCol>
                    <a:gridCol w="862642">
                      <a:extLst>
                        <a:ext uri="{9D8B030D-6E8A-4147-A177-3AD203B41FA5}">
                          <a16:colId xmlns:a16="http://schemas.microsoft.com/office/drawing/2014/main" val="3166645513"/>
                        </a:ext>
                      </a:extLst>
                    </a:gridCol>
                    <a:gridCol w="1196196">
                      <a:extLst>
                        <a:ext uri="{9D8B030D-6E8A-4147-A177-3AD203B41FA5}">
                          <a16:colId xmlns:a16="http://schemas.microsoft.com/office/drawing/2014/main" val="2169527007"/>
                        </a:ext>
                      </a:extLst>
                    </a:gridCol>
                  </a:tblGrid>
                  <a:tr h="365760">
                    <a:tc>
                      <a:txBody>
                        <a:bodyPr/>
                        <a:lstStyle/>
                        <a:p>
                          <a:pPr algn="ctr"/>
                          <a:r>
                            <a:rPr lang="en-US" b="1"/>
                            <a:t>Class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b="1"/>
                            <a:t>Precision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a:t>Recall</a:t>
                          </a:r>
                          <a:endParaRPr b="1"/>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solidFill>
                          <a:schemeClr val="bg2"/>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mpd="sng">
                          <a:solidFill>
                            <a:schemeClr val="tx1"/>
                          </a:solidFill>
                          <a:prstDash val="solid"/>
                        </a:lnT>
                        <a:lnB w="12700" cap="flat" cmpd="sng" algn="ctr">
                          <a:solidFill>
                            <a:schemeClr val="tx1"/>
                          </a:solidFill>
                          <a:prstDash val="solid"/>
                          <a:round/>
                          <a:headEnd type="none" w="med" len="med"/>
                          <a:tailEnd type="none" w="med" len="med"/>
                        </a:lnB>
                        <a:blipFill>
                          <a:blip r:embed="rId4"/>
                          <a:stretch>
                            <a:fillRect l="-383163" t="-8333" r="-1020" b="-628333"/>
                          </a:stretch>
                        </a:blipFill>
                      </a:tcPr>
                    </a:tc>
                    <a:extLst>
                      <a:ext uri="{0D108BD9-81ED-4DB2-BD59-A6C34878D82A}">
                        <a16:rowId xmlns:a16="http://schemas.microsoft.com/office/drawing/2014/main" val="82072523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LAYING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2446333"/>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SITTING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0.909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173291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STANDING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8243672"/>
                      </a:ext>
                    </a:extLst>
                  </a:tr>
                  <a:tr h="365760">
                    <a:tc>
                      <a:txBody>
                        <a:bodyPr/>
                        <a:lstStyle/>
                        <a:p>
                          <a:pPr latinLnBrk="1"/>
                          <a:r>
                            <a:rPr lang="en-US" sz="1800" b="0" i="0" kern="1200">
                              <a:solidFill>
                                <a:schemeClr val="tx1"/>
                              </a:solidFill>
                              <a:effectLst/>
                              <a:latin typeface="+mn-lt"/>
                              <a:ea typeface="+mn-ea"/>
                              <a:cs typeface="+mn-cs"/>
                            </a:rPr>
                            <a:t>WALKING</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0024400"/>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a:solidFill>
                                <a:schemeClr val="tx1"/>
                              </a:solidFill>
                              <a:effectLst/>
                              <a:latin typeface="+mn-lt"/>
                              <a:ea typeface="+mn-ea"/>
                              <a:cs typeface="+mn-cs"/>
                            </a:rPr>
                            <a:t>WALKING_DOWNSTAIRS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0.967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0.738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1"/>
                          <a:r>
                            <a:rPr lang="en-US" sz="1800" b="0" i="0" kern="1200">
                              <a:solidFill>
                                <a:schemeClr val="tx1"/>
                              </a:solidFill>
                              <a:effectLst/>
                              <a:latin typeface="+mn-lt"/>
                              <a:ea typeface="+mn-ea"/>
                              <a:cs typeface="+mn-cs"/>
                            </a:rPr>
                            <a:t>0.838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6600619"/>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a:solidFill>
                                <a:schemeClr val="tx1"/>
                              </a:solidFill>
                              <a:effectLst/>
                              <a:latin typeface="+mn-lt"/>
                              <a:ea typeface="+mn-ea"/>
                              <a:cs typeface="+mn-cs"/>
                            </a:rPr>
                            <a:t>WALKING_UPSTAIRS</a:t>
                          </a:r>
                        </a:p>
                      </a:txBody>
                      <a:tcPr>
                        <a:lnL w="12700" cmpd="sng">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0.880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0.904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a:solidFill>
                                <a:schemeClr val="tx1"/>
                              </a:solidFill>
                              <a:effectLst/>
                              <a:latin typeface="+mn-lt"/>
                              <a:ea typeface="+mn-ea"/>
                              <a:cs typeface="+mn-cs"/>
                            </a:rPr>
                            <a:t>0.892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302090"/>
                      </a:ext>
                    </a:extLst>
                  </a:tr>
                </a:tbl>
              </a:graphicData>
            </a:graphic>
          </p:graphicFrame>
        </mc:Fallback>
      </mc:AlternateContent>
      <p:pic>
        <p:nvPicPr>
          <p:cNvPr id="6" name="Picture 5">
            <a:extLst>
              <a:ext uri="{FF2B5EF4-FFF2-40B4-BE49-F238E27FC236}">
                <a16:creationId xmlns:a16="http://schemas.microsoft.com/office/drawing/2014/main" id="{3BB05CD4-8313-1181-4D29-5F728758C6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05744" y="2155259"/>
            <a:ext cx="5059672" cy="3500351"/>
          </a:xfrm>
          <a:prstGeom prst="rect">
            <a:avLst/>
          </a:prstGeom>
        </p:spPr>
      </p:pic>
    </p:spTree>
    <p:extLst>
      <p:ext uri="{BB962C8B-B14F-4D97-AF65-F5344CB8AC3E}">
        <p14:creationId xmlns:p14="http://schemas.microsoft.com/office/powerpoint/2010/main" val="32751704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948C31-5A3B-EE78-21BC-BE2D248C422E}"/>
              </a:ext>
            </a:extLst>
          </p:cNvPr>
          <p:cNvSpPr>
            <a:spLocks noGrp="1"/>
          </p:cNvSpPr>
          <p:nvPr>
            <p:ph type="title"/>
          </p:nvPr>
        </p:nvSpPr>
        <p:spPr/>
        <p:txBody>
          <a:bodyPr/>
          <a:lstStyle/>
          <a:p>
            <a:r>
              <a:rPr lang="en-US">
                <a:solidFill>
                  <a:srgbClr val="C00000"/>
                </a:solidFill>
              </a:rPr>
              <a:t>References</a:t>
            </a:r>
          </a:p>
        </p:txBody>
      </p:sp>
      <p:sp>
        <p:nvSpPr>
          <p:cNvPr id="3" name="Content Placeholder 2">
            <a:extLst>
              <a:ext uri="{FF2B5EF4-FFF2-40B4-BE49-F238E27FC236}">
                <a16:creationId xmlns:a16="http://schemas.microsoft.com/office/drawing/2014/main" id="{756B9A78-ADE2-2AD1-682E-F76216FC126C}"/>
              </a:ext>
            </a:extLst>
          </p:cNvPr>
          <p:cNvSpPr>
            <a:spLocks noGrp="1"/>
          </p:cNvSpPr>
          <p:nvPr>
            <p:ph idx="1"/>
          </p:nvPr>
        </p:nvSpPr>
        <p:spPr/>
        <p:txBody>
          <a:bodyPr>
            <a:normAutofit/>
          </a:bodyPr>
          <a:lstStyle/>
          <a:p>
            <a:pPr marL="0" indent="0">
              <a:buNone/>
            </a:pPr>
            <a:r>
              <a:rPr lang="en-US" sz="1600"/>
              <a:t>Davide Anguita, Alessandro Ghio, Luca Oneto, Xavier Parra and Jorge L. Reyes-Ortiz. A Public Domain Dataset for Human Activity Recognition Using Smartphones. 21th European Symposium on Artificial Neural Networks, Computational Intelligence and Machine Learning, ESANN 2013. Bruges, Belgium 24-26 April 2013. </a:t>
            </a:r>
          </a:p>
        </p:txBody>
      </p:sp>
    </p:spTree>
    <p:extLst>
      <p:ext uri="{BB962C8B-B14F-4D97-AF65-F5344CB8AC3E}">
        <p14:creationId xmlns:p14="http://schemas.microsoft.com/office/powerpoint/2010/main" val="21272370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2B48E054596B4CB799D81C99D3D35F" ma:contentTypeVersion="14" ma:contentTypeDescription="Create a new document." ma:contentTypeScope="" ma:versionID="f781e473a3081fce47157995d783886d">
  <xsd:schema xmlns:xsd="http://www.w3.org/2001/XMLSchema" xmlns:xs="http://www.w3.org/2001/XMLSchema" xmlns:p="http://schemas.microsoft.com/office/2006/metadata/properties" xmlns:ns3="fe992ea8-205f-4b57-8441-e4b183c85816" xmlns:ns4="886e5e02-bfae-423d-b60f-dec9ad03d265" targetNamespace="http://schemas.microsoft.com/office/2006/metadata/properties" ma:root="true" ma:fieldsID="b4e5b2ea04357f0b01042f9062cc04da" ns3:_="" ns4:_="">
    <xsd:import namespace="fe992ea8-205f-4b57-8441-e4b183c85816"/>
    <xsd:import namespace="886e5e02-bfae-423d-b60f-dec9ad03d26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SearchProperties" minOccurs="0"/>
                <xsd:element ref="ns4:MediaServiceDateTaken"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992ea8-205f-4b57-8441-e4b183c85816"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6e5e02-bfae-423d-b60f-dec9ad03d26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86e5e02-bfae-423d-b60f-dec9ad03d265" xsi:nil="true"/>
  </documentManagement>
</p:properties>
</file>

<file path=customXml/itemProps1.xml><?xml version="1.0" encoding="utf-8"?>
<ds:datastoreItem xmlns:ds="http://schemas.openxmlformats.org/officeDocument/2006/customXml" ds:itemID="{4C55C023-6220-4815-AC7A-9467F4A74825}">
  <ds:schemaRefs>
    <ds:schemaRef ds:uri="http://schemas.microsoft.com/sharepoint/v3/contenttype/forms"/>
  </ds:schemaRefs>
</ds:datastoreItem>
</file>

<file path=customXml/itemProps2.xml><?xml version="1.0" encoding="utf-8"?>
<ds:datastoreItem xmlns:ds="http://schemas.openxmlformats.org/officeDocument/2006/customXml" ds:itemID="{64EBE076-D59D-481B-BFC9-BB76FE78BEFE}">
  <ds:schemaRefs>
    <ds:schemaRef ds:uri="886e5e02-bfae-423d-b60f-dec9ad03d265"/>
    <ds:schemaRef ds:uri="fe992ea8-205f-4b57-8441-e4b183c858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C017240-1142-4CD3-BAFB-91157F72D408}">
  <ds:schemaRefs>
    <ds:schemaRef ds:uri="http://purl.org/dc/elements/1.1/"/>
    <ds:schemaRef ds:uri="fe992ea8-205f-4b57-8441-e4b183c85816"/>
    <ds:schemaRef ds:uri="http://schemas.microsoft.com/office/2006/documentManagement/types"/>
    <ds:schemaRef ds:uri="http://purl.org/dc/dcmitype/"/>
    <ds:schemaRef ds:uri="http://purl.org/dc/terms/"/>
    <ds:schemaRef ds:uri="http://schemas.openxmlformats.org/package/2006/metadata/core-properties"/>
    <ds:schemaRef ds:uri="http://www.w3.org/XML/1998/namespace"/>
    <ds:schemaRef ds:uri="http://schemas.microsoft.com/office/2006/metadata/properties"/>
    <ds:schemaRef ds:uri="http://schemas.microsoft.com/office/infopath/2007/PartnerControls"/>
    <ds:schemaRef ds:uri="886e5e02-bfae-423d-b60f-dec9ad03d265"/>
  </ds:schemaRefs>
</ds:datastoreItem>
</file>

<file path=docProps/app.xml><?xml version="1.0" encoding="utf-8"?>
<Properties xmlns="http://schemas.openxmlformats.org/officeDocument/2006/extended-properties" xmlns:vt="http://schemas.openxmlformats.org/officeDocument/2006/docPropsVTypes">
  <TotalTime>0</TotalTime>
  <Words>1471</Words>
  <Application>Microsoft Office PowerPoint</Application>
  <PresentationFormat>Widescreen</PresentationFormat>
  <Paragraphs>283</Paragraphs>
  <Slides>26</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36" baseType="lpstr">
      <vt:lpstr>Aptos</vt:lpstr>
      <vt:lpstr>Aptos Display</vt:lpstr>
      <vt:lpstr>Arial</vt:lpstr>
      <vt:lpstr>Calibri</vt:lpstr>
      <vt:lpstr>Cambria Math</vt:lpstr>
      <vt:lpstr>Consolas</vt:lpstr>
      <vt:lpstr>Segoe UI</vt:lpstr>
      <vt:lpstr>Wingdings</vt:lpstr>
      <vt:lpstr>Office Theme</vt:lpstr>
      <vt:lpstr>Packager Shell Object</vt:lpstr>
      <vt:lpstr>High-Dimensional Classification with PCA</vt:lpstr>
      <vt:lpstr>Presentation Structure</vt:lpstr>
      <vt:lpstr>Dataset</vt:lpstr>
      <vt:lpstr>Anatomy of a Feature</vt:lpstr>
      <vt:lpstr>EDA: Class Distribution of Activities</vt:lpstr>
      <vt:lpstr>Correlation Heatmap (10 out of 561 features)</vt:lpstr>
      <vt:lpstr>Pairwise Correlations Distribution</vt:lpstr>
      <vt:lpstr>PowerPoint Presentation</vt:lpstr>
      <vt:lpstr>PowerPoint Presentation</vt:lpstr>
      <vt:lpstr>PowerPoint Presentation</vt:lpstr>
      <vt:lpstr>PowerPoint Presentation</vt:lpstr>
      <vt:lpstr>PowerPoint Presentation</vt:lpstr>
      <vt:lpstr>PowerPoint Presentation</vt:lpstr>
      <vt:lpstr>Performing PCA Efficiently</vt:lpstr>
      <vt:lpstr>Cumulative Variance</vt:lpstr>
      <vt:lpstr>PCA Visualizations</vt:lpstr>
      <vt:lpstr>First Principal Component</vt:lpstr>
      <vt:lpstr>PCA Transformed LDA Confusion Matrix  102 Principal Components</vt:lpstr>
      <vt:lpstr>PCA Transformed LDA Performance Metrics</vt:lpstr>
      <vt:lpstr>LDA Model Comparison</vt:lpstr>
      <vt:lpstr>Dataset Implications</vt:lpstr>
      <vt:lpstr>k-Nearest Neighbors Introduction</vt:lpstr>
      <vt:lpstr>k-Nearest Neighbor Classification Tuning</vt:lpstr>
      <vt:lpstr>Independently Tuning Hyperparameters</vt:lpstr>
      <vt:lpstr>k-NN Evaluation (k = 20, 125 PCs)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Teaney, Willow Glimmer</dc:creator>
  <cp:lastModifiedBy>Chepkemboi, Carolyne</cp:lastModifiedBy>
  <cp:revision>2</cp:revision>
  <dcterms:created xsi:type="dcterms:W3CDTF">2026-04-21T19:32:07Z</dcterms:created>
  <dcterms:modified xsi:type="dcterms:W3CDTF">2026-05-12T18:29:47Z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0x010100792B48E054596B4CB799D81C99D3D35F</vt:lpwstr>
  </property>
</Properties>
</file>